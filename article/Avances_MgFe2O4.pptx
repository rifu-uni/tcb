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Síntesis y caracterización de MgFe₂O₄</a:t>
            </a:r>
          </a:p>
          <a:p>
            <a:pPr>
              <a:defRPr sz="2600">
                <a:solidFill>
                  <a:srgbClr val="C9D6E8"/>
                </a:solidFill>
              </a:defRPr>
            </a:pPr>
            <a:r>
              <a:t>Avances del proyecto</a:t>
            </a:r>
          </a:p>
          <a:p>
            <a:pPr>
              <a:defRPr sz="1600">
                <a:solidFill>
                  <a:srgbClr val="A8B8D0"/>
                </a:solidFill>
              </a:defRPr>
            </a:pPr>
            <a:r>
              <a:t>Martina García Mejía · Laura Alejandra Sosa Ballen — Universidad Nacional de Colombia</a:t>
            </a:r>
          </a:p>
          <a:p>
            <a:pPr>
              <a:defRPr sz="1600">
                <a:solidFill>
                  <a:srgbClr val="A8B8D0"/>
                </a:solidFill>
              </a:defRPr>
            </a:pPr>
            <a:r>
              <a:t>Co-precipitación · DRX · SEM/EDS · UV-Vis-NIR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Síntesis por co-precipitación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Objetivo: espinela MgFe₂O₄ (1 g, 5 mmol)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Precursores: Fe(NO₃)₃·9H₂O (4.06 g) + Mg(NO₃)₂·6H₂O (1.31 g), relación molar Fe:Mg = 2:1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Precipitación con NH₄OH al 30%, pH 10–11, agitación 400–600 rpm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Maduración 95 °C · 2 h → mezcla íntima Fe(OH)₃ : Mg(OH)₂ = 2:1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Lavado: 3 ciclos (8800 rpm, 7 min) — elimina NH₄NO₃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Secado 90 °C · 12 h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Calcinación 300 °C · 2 h (descomposición de hidróxidos)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Macerado + calcinación 400 °C · 2 h (formación de espinela)</a:t>
            </a:r>
          </a:p>
          <a:p>
            <a:pPr lvl="1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– XRD1 medido tras 400 °C (24-sep)</a:t>
            </a:r>
          </a:p>
          <a:p>
            <a:pPr lvl="1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– Recalcinación 600 °C · 2 h → XRD2 (14-oct) para mejorar cristalinidad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Cronología de caracterización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962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Fecha</a:t>
                      </a: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Medición</a:t>
                      </a: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Condiciones</a:t>
                      </a: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24-sep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UV-Vis-NIR (reflectancia %R)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2500–200 nm, esfera integradora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24-sep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DRX — pasada 1 (XRD1)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20–80° 2θ, Cu Kα, D8 Advance + LynxEye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25-sep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SEM + EDS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VEGA3, 20 kV; EDS XFlash 410, 30 kV; 2k–70k×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—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Recalcinación 600 °C · 2 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mejora de cristalinidad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14-oct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DRX — pasada 2 (XRD2)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10–75° 2θ, Cu Kα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MgFe2O4-edx 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794760"/>
            <a:ext cx="2190404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DRX — identificación de fases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Cribado de todos los CIF de referencia del repositorio</a:t>
            </a:r>
          </a:p>
        </p:txBody>
      </p:sp>
      <p:pic>
        <p:nvPicPr>
          <p:cNvPr id="5" name="Picture 4" descr="xrd_rietv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954807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1887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Fases detectadas: α-Fe₂O₃ (hematita, R-3c) + MgFe₂O₄ (espinela, Fd-3m)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NO es espinela pura: hematita dominante en ambas pasadas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Sin MgO, Mg(OH)₂ ni Fe₃O₄ (líneas diagnósticas ausentes)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Picos diagnósticos: 33.2° (hematita 104) es el más intenso; espinela 220/400 a 30.1°/43.2°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CIF seleccionados por costo de ajuste: hematita 9015964.cif (a = 5.0356 Å), espinela 9001446.cif (a = 8.3805 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DRX — refinamiento Rietveld (2 fases)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Fondo Chebyshev refinado · pseudo-Voigt · escalas y celdas por fase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5852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</a:tblGrid>
              <a:tr h="447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XRD1 (400 °C)</a:t>
                      </a: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XRD2 (600 °C)</a:t>
                      </a:r>
                    </a:p>
                  </a:txBody>
                  <a:tcPr marT="25400" marB="25400">
                    <a:solidFill>
                      <a:srgbClr val="1F3B63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Hematita (% peso)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92.0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90.2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Espinela (% peso)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Rwp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1.08 %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1.30 %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χ²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GoF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8.1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9.6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 hematita (Å)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5.0349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5.0329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 espinela (Å)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8.355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8.370</a:t>
                      </a:r>
                    </a:p>
                  </a:txBody>
                  <a:tcPr marT="25400" marB="25400">
                    <a:solidFill>
                      <a:srgbClr val="F2F4F7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FWHM (°)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0.474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0.275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28016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Verificación independiente con EasyDiffraction 0.21.1 (código incluido en el cuaderno):</a:t>
            </a:r>
          </a:p>
          <a:p>
            <a:pPr lvl="1">
              <a:spcAft>
                <a:spcPts val="800"/>
              </a:spcAft>
              <a:defRPr sz="1300">
                <a:solidFill>
                  <a:srgbClr val="444444"/>
                </a:solidFill>
              </a:defRPr>
            </a:pPr>
            <a:r>
              <a:t>– χ² red. = 8.45, Rwp = 5.27%, hematita 90.5% — mismo resultado</a:t>
            </a:r>
          </a:p>
          <a:p>
            <a:pPr lvl="1">
              <a:spcAft>
                <a:spcPts val="800"/>
              </a:spcAft>
              <a:defRPr sz="1300">
                <a:solidFill>
                  <a:srgbClr val="444444"/>
                </a:solidFill>
              </a:defRPr>
            </a:pPr>
            <a:r>
              <a:t>– La recalcinación a 600 °C: espinela 8→10% y FWHM −42%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</a:defRPr>
            </a:pPr>
            <a:r>
              <a:t>• GoF &gt; 1: perfil mínimo (un solo FWHM); no error de fase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DRX — tamaño de cristalito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Scherrer y Williamson–Hall (corregido: β en rad, λ en Å → nm = ×0.1)</a:t>
            </a:r>
          </a:p>
        </p:txBody>
      </p:sp>
      <p:pic>
        <p:nvPicPr>
          <p:cNvPr id="5" name="Picture 4" descr="xrd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138160" cy="3056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1887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Scherrer: D = Kλ / (β cos θ), K = 0.9, β = √(FWHM² − 0.05²)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400 °C: D = 18.2 ± 0.9 nm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600 °C: D = 28.7 ± 1.6 nm (+58%: crecimiento de cristalito)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Williamson–Hall: βcosθ = Kλ/D + 4ε sinθ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600 °C: D = 47 ± 10 nm, ε = 0.002 ± 0.001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400 °C: pendiente no resoluble (dominado por tamaño)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Corrección: versiones previas reportaban 34/50 nm por error de unidades (×1.745)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SEM — tamaño de grano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Otsu + watershed · tamaño de píxel de los metadatos TESCAN</a:t>
            </a:r>
          </a:p>
        </p:txBody>
      </p:sp>
      <p:pic>
        <p:nvPicPr>
          <p:cNvPr id="5" name="Picture 4" descr="sem_grai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138160" cy="30536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188720"/>
            <a:ext cx="3291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4 micrografías: 2k, 20k, 36k, 70k× (13.5 / 7.5 nm/px en las usables)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2k×: submuestreada (135 nm/px) — solo verificación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70k×: cerca del límite, pocas partículas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Distribución lognormal, N = 936 granos (20k + 36k)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Mediana 132 nm · media 141 ± 2.4 nm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d₁₀ = 73 nm · d₉₀ = 246 nm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Granos SEM ≈ 5–7× los cristalitos DRX → aglomerados policristalinos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EDS — composición y relaciones másicas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XFlash 410 · 30 kV · cuantificación del .spx</a:t>
            </a:r>
          </a:p>
        </p:txBody>
      </p:sp>
      <p:pic>
        <p:nvPicPr>
          <p:cNvPr id="5" name="Picture 4" descr="sem_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680960" cy="2741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657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Fe 62.3 ± 2.6 · O 35.7 · C 5.7 · Mg 0.9 wt%</a:t>
            </a:r>
          </a:p>
          <a:p>
            <a:pPr lvl="1">
              <a:spcAft>
                <a:spcPts val="800"/>
              </a:spcAft>
              <a:defRPr sz="1100">
                <a:solidFill>
                  <a:srgbClr val="444444"/>
                </a:solidFill>
              </a:defRPr>
            </a:pPr>
            <a:r>
              <a:t>– C: cinta adhesiva → base sin C: Fe 63.0 / O 36.1 / Mg 0.9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Fe:Mg medido ≈ 69:1 vs 4.60:1 estequiométrico</a:t>
            </a:r>
          </a:p>
          <a:p>
            <a:pPr lvl="1">
              <a:spcAft>
                <a:spcPts val="800"/>
              </a:spcAft>
              <a:defRPr sz="1100">
                <a:solidFill>
                  <a:srgbClr val="444444"/>
                </a:solidFill>
              </a:defRPr>
            </a:pPr>
            <a:r>
              <a:t>– Mg Kα (1.25 keV) subestimado + posible pérdida en lavados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• Consistente con DRX: hematita dominante, espinela minoritaria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UV-Vis-NIR — brecha óptica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0D8E4"/>
                </a:solidFill>
              </a:defRPr>
            </a:pPr>
            <a:r>
              <a:t>Kubelka–Munk + Tauc · un solo borde de absorción</a:t>
            </a:r>
          </a:p>
        </p:txBody>
      </p:sp>
      <p:pic>
        <p:nvPicPr>
          <p:cNvPr id="5" name="Picture 4" descr="uvvis_t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8229600" cy="235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234440"/>
            <a:ext cx="3200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Limpieza: glitches del cambio de detector + mediana 9 nm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Un único borde (d[KM]/dE): ≈ 1.6–1.7 eV (~770 nm)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Indirecto (n=2): Eg = 1.7 ± 0.2 eV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Directo (n=½): Eg = 2.0 ± 0.3 eV</a:t>
            </a:r>
          </a:p>
          <a:p>
            <a:pPr lvl="1">
              <a:spcAft>
                <a:spcPts val="800"/>
              </a:spcAft>
              <a:defRPr sz="1000">
                <a:solidFill>
                  <a:srgbClr val="444444"/>
                </a:solidFill>
              </a:defRPr>
            </a:pPr>
            <a:r>
              <a:t>– = el MISMO borde con dos exponentes, no dos fases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R visible 3–8% (pigmento oscuro); meseta NIR 0.34–0.39</a:t>
            </a:r>
          </a:p>
          <a:p>
            <a:pPr>
              <a:spcAft>
                <a:spcPts val="800"/>
              </a:spcAft>
              <a:defRPr sz="1300">
                <a:solidFill>
                  <a:srgbClr val="222222"/>
                </a:solidFill>
              </a:defRPr>
            </a:pPr>
            <a:r>
              <a:t>• Espectro dominado por hematita (DRX ≈ 90%)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6017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338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La muestra NO es MgFe₂O₄ puro: ≈ 90–92% hematita + 8–10% espinela (Rietveld 2 fases, verificado con dos motores)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La recalcinación a 600 °C mejora la cristalinidad (FWHM 0.47°→0.28°), hace crecer los cristalitos (18→29 nm) y aumenta la espinela (8→10%)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Granos SEM ≈ 132 nm (mediana): aglomerados de ~5–7 cristalitos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EDS: fuerte déficit de Mg (Fe:Mg 69:1 vs 4.6:1) — subestimación del Mg Kα + posible pérdida en lavados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Brecha óptica: un solo borde ≈ 1.7 (indirecto) / 2.0 eV (directo), dominado por hematita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Trabajo futuro:</a:t>
            </a:r>
          </a:p>
          <a:p>
            <a:pPr lvl="1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– Reconciliar con Rietveld de HighScore Plus (march-dollase, TCH, Kα₂)</a:t>
            </a:r>
          </a:p>
          <a:p>
            <a:pPr lvl="1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– Ejecutar EasyDiffraction localmente (código listo en el cuaderno XRD)</a:t>
            </a:r>
          </a:p>
          <a:p>
            <a:pPr lvl="1">
              <a:spcAft>
                <a:spcPts val="800"/>
              </a:spcAft>
              <a:defRPr sz="1400">
                <a:solidFill>
                  <a:srgbClr val="444444"/>
                </a:solidFill>
              </a:defRPr>
            </a:pPr>
            <a:r>
              <a:t>– Probar calcinación &gt; 700 °C o mayor pH para favorecer la espinela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
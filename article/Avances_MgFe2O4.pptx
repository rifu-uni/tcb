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105156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A5A12"/>
                </a:solidFill>
                <a:latin typeface="Calibri"/>
              </a:rPr>
              <a:t>UNIVERSIDAD NACIONAL DE COLOMBIA — PROYECTO DE GRADO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789920" cy="1417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23262B"/>
                </a:solidFill>
                <a:latin typeface="Georgia"/>
              </a:rPr>
              <a:t>Avances: </a:t>
            </a:r>
            <a:r>
              <a:rPr sz="4200" b="1" i="0">
                <a:solidFill>
                  <a:srgbClr val="A8432B"/>
                </a:solidFill>
                <a:latin typeface="Georgia"/>
              </a:rPr>
              <a:t>Síntesis y caracterización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23262B"/>
                </a:solidFill>
                <a:latin typeface="Georgia"/>
              </a:rPr>
              <a:t>de MgFe</a:t>
            </a:r>
            <a:r>
              <a:rPr sz="2800" b="1" i="0" baseline="-25000">
                <a:solidFill>
                  <a:srgbClr val="23262B"/>
                </a:solidFill>
                <a:latin typeface="Georgia"/>
              </a:rPr>
              <a:t>2</a:t>
            </a:r>
            <a:r>
              <a:rPr sz="4200" b="1" i="0">
                <a:solidFill>
                  <a:srgbClr val="23262B"/>
                </a:solidFill>
                <a:latin typeface="Georgia"/>
              </a:rPr>
              <a:t>O</a:t>
            </a:r>
            <a:r>
              <a:rPr sz="2800" b="1" i="0" baseline="-25000">
                <a:solidFill>
                  <a:srgbClr val="23262B"/>
                </a:solidFill>
                <a:latin typeface="Georgia"/>
              </a:rPr>
              <a:t>4</a:t>
            </a:r>
            <a:r>
              <a:rPr sz="4200" b="1" i="0">
                <a:solidFill>
                  <a:srgbClr val="23262B"/>
                </a:solidFill>
                <a:latin typeface="Georgia"/>
              </a:rPr>
              <a:t> por co-precipitación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85615"/>
            <a:ext cx="105156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F5A52"/>
                </a:solidFill>
                <a:latin typeface="Calibri"/>
              </a:rPr>
              <a:t>Ruta: co-precipitación química → calcinación 400 °C → recalc 600 °C → DRX / SEM-EDS / UV-Vis-NIR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89120"/>
            <a:ext cx="4206240" cy="18288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36008"/>
            <a:ext cx="10515600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3262B"/>
                </a:solidFill>
                <a:latin typeface="Calibri"/>
              </a:rPr>
              <a:t>Martina García Mejía · Laura Alejandra Sosa Ballen</a:t>
            </a:r>
          </a:p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3262B"/>
                </a:solidFill>
                <a:latin typeface="Calibri"/>
              </a:rPr>
              <a:t>Semillero de investigación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Objetivo y método de síntesis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5778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A5A12"/>
                </a:solidFill>
                <a:latin typeface="Calibri"/>
              </a:rPr>
              <a:t>OBJETIVO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577840" cy="20116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23262B"/>
                </a:solidFill>
                <a:latin typeface="Calibri"/>
              </a:rPr>
              <a:t>Sintetizar la espinela </a:t>
            </a:r>
            <a:r>
              <a:rPr sz="1700" b="0" i="0">
                <a:solidFill>
                  <a:srgbClr val="23262B"/>
                </a:solidFill>
                <a:latin typeface="Calibri"/>
              </a:rPr>
              <a:t>MgFe</a:t>
            </a:r>
            <a:r>
              <a:rPr sz="1122" b="0" i="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700" b="0" i="0">
                <a:solidFill>
                  <a:srgbClr val="23262B"/>
                </a:solidFill>
                <a:latin typeface="Calibri"/>
              </a:rPr>
              <a:t>O</a:t>
            </a:r>
            <a:r>
              <a:rPr sz="1122" b="0" i="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700" b="0" i="0">
                <a:solidFill>
                  <a:srgbClr val="23262B"/>
                </a:solidFill>
                <a:latin typeface="Calibri"/>
              </a:rPr>
              <a:t> (ferrita de magnesio) por co-precipitación química en medio acuoso,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23262B"/>
                </a:solidFill>
                <a:latin typeface="Calibri"/>
              </a:rPr>
              <a:t>y caracterizarla estructural, morfológica y ópticamente (DRX, SEM-EDS, UV-Vis-NIR).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39312"/>
            <a:ext cx="5577840" cy="1938528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803904"/>
            <a:ext cx="512064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8432B"/>
                </a:solidFill>
                <a:latin typeface="Calibri"/>
              </a:rPr>
              <a:t>¿POR QUÉ CO-PRECIPITACIÓN?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5166360" cy="1325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3262B"/>
                </a:solidFill>
                <a:latin typeface="Calibri"/>
              </a:rPr>
              <a:t>Precipitar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Fe(OH)</a:t>
            </a:r>
            <a:r>
              <a:rPr sz="924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 y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Mg(OH)</a:t>
            </a:r>
            <a:r>
              <a:rPr sz="924" b="0" i="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 simultáneamente desde una solución con ambos cationes mezcla los metales a nivel atómico → óxido mixto homogéneo tras calcinar, a temperatura menor que la ruta cerámica convencional.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17320"/>
            <a:ext cx="530352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A5A12"/>
                </a:solidFill>
                <a:latin typeface="Calibri"/>
              </a:rPr>
              <a:t>ESTEQUIOMETRÍA (1 g de producto)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0" y="1828800"/>
          <a:ext cx="5303520" cy="1152144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Precursor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 (g/mol)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teórico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pesado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Fe(NO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3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)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3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·9H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2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O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404.0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4.04 g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4.06 g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Mg(NO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3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)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2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·6H</a:t>
                      </a:r>
                      <a:r>
                        <a:rPr sz="858" baseline="-25000">
                          <a:solidFill>
                            <a:srgbClr val="23262B"/>
                          </a:solidFill>
                          <a:latin typeface="Calibri"/>
                        </a:rPr>
                        <a:t>2</a:t>
                      </a:r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O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256.4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1.28 g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3262B"/>
                          </a:solidFill>
                          <a:latin typeface="Calibri"/>
                        </a:rPr>
                        <a:t>1.31 g</a:t>
                      </a:r>
                    </a:p>
                  </a:txBody>
                  <a:tcPr marR="128016"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0" y="3310128"/>
            <a:ext cx="5303520" cy="21945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3262B"/>
                </a:solidFill>
                <a:latin typeface="Calibri"/>
              </a:rPr>
              <a:t>Relación molar Mg:Fe = 1:2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5F5A52"/>
                </a:solidFill>
                <a:latin typeface="Calibri"/>
              </a:rPr>
              <a:t>M(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924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924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) = 200.0 g/mol → 5 mmol de 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Mg</a:t>
            </a:r>
            <a:r>
              <a:rPr sz="924" b="0" i="0" baseline="30000">
                <a:solidFill>
                  <a:srgbClr val="5F5A52"/>
                </a:solidFill>
                <a:latin typeface="Calibri"/>
              </a:rPr>
              <a:t>2+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 y 10 mmol de 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Fe</a:t>
            </a:r>
            <a:r>
              <a:rPr sz="924" b="0" i="0" baseline="30000">
                <a:solidFill>
                  <a:srgbClr val="5F5A52"/>
                </a:solidFill>
                <a:latin typeface="Calibri"/>
              </a:rPr>
              <a:t>3+</a:t>
            </a:r>
            <a:r>
              <a:rPr sz="1400" b="0" i="0">
                <a:solidFill>
                  <a:srgbClr val="5F5A52"/>
                </a:solidFill>
                <a:latin typeface="Calibri"/>
              </a:rPr>
              <a:t> por gramo de producto. Las masas pesadas están dentro del 1 % del valor teórico.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PROCEDIMIENTO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Ruta de síntesis: cada paso y su propósito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2651760" cy="6858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64208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1. Disolución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Cada nitrato se disuelve aparte en 25 ml de agua (400 rpm, 10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96896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F6390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Soluciones homogéneas; nada precipita antes de mezclar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82112" y="2231136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28416" y="1481328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28416" y="1481328"/>
            <a:ext cx="2651760" cy="6858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65576" y="1664208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2. Mezcla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576" y="1975104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Solución de Mg añadida poco a poco sobre la de 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2596896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F6390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Mezcla 1:2 a nivel molecular, sin gradientes locales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07608" y="2231136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1481328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3912" y="1481328"/>
            <a:ext cx="2651760" cy="6858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1664208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3. Homogeneización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1975104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600 rpm, 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2596896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F6390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Mezcla binaria uniforme antes de precipitar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33104" y="2231136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79408" y="1481328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79408" y="1481328"/>
            <a:ext cx="2651760" cy="68580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16568" y="1664208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4. Precipitación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6568" y="1975104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NH</a:t>
            </a:r>
            <a:r>
              <a:rPr sz="792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OH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 30 % gota a gota hasta pH 10–11 (400 rpm)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2596896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A8432B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Fe</a:t>
            </a:r>
            <a:r>
              <a:rPr sz="693" b="0" i="0" baseline="30000">
                <a:solidFill>
                  <a:srgbClr val="23262B"/>
                </a:solidFill>
                <a:latin typeface="Calibri"/>
              </a:rPr>
              <a:t>3+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y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Mg</a:t>
            </a:r>
            <a:r>
              <a:rPr sz="693" b="0" i="0" baseline="30000">
                <a:solidFill>
                  <a:srgbClr val="23262B"/>
                </a:solidFill>
                <a:latin typeface="Calibri"/>
              </a:rPr>
              <a:t>2+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precipitan juntos como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Fe(OH)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+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Mg(OH)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383280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383280"/>
            <a:ext cx="2651760" cy="68580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566160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5. Maduración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77056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95 °C, 2 h con agitación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498848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A8432B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Nucleación y crecimiento del precursor; menos pérdida en lavado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3182112" y="4133088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328416" y="3383280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28416" y="3383280"/>
            <a:ext cx="2651760" cy="6858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65576" y="3566160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6. Reposo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65576" y="3877056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Tapa de aluminio con orificio, toda la noche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65576" y="4498848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F6390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Evaporación controlada sin contaminación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6007608" y="4133088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53912" y="3383280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53912" y="3383280"/>
            <a:ext cx="2651760" cy="6858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91072" y="3566160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7. Lavado + secado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1072" y="3877056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3 lavados (8800 rpm, 7 min) + secado 90 °C, 12 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91072" y="4498848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F6390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Eliminar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NH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NO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y nitratos; evitar fases secundarias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8833104" y="4133088"/>
            <a:ext cx="118872" cy="201168"/>
          </a:xfrm>
          <a:prstGeom prst="rightArrow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979408" y="3383280"/>
            <a:ext cx="2651760" cy="1700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79408" y="3383280"/>
            <a:ext cx="2651760" cy="68580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16568" y="3566160"/>
            <a:ext cx="237744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Calibri"/>
              </a:rPr>
              <a:t>8. Calcinación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16568" y="3877056"/>
            <a:ext cx="2377440" cy="62179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F5A52"/>
                </a:solidFill>
                <a:latin typeface="Calibri"/>
              </a:rPr>
              <a:t>300 °C 2 h → macerado → 400 °C 2 h → recalc. 600 °C 2 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16568" y="4498848"/>
            <a:ext cx="2377440" cy="51206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A8432B"/>
                </a:solidFill>
                <a:latin typeface="Calibri"/>
              </a:rPr>
              <a:t>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2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Fe(OH)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+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Mg(OH)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→ 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MgFe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O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 + 4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H</a:t>
            </a:r>
            <a:r>
              <a:rPr sz="693" b="0" i="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O</a:t>
            </a:r>
            <a:r>
              <a:rPr sz="1050" b="0" i="0">
                <a:solidFill>
                  <a:srgbClr val="23262B"/>
                </a:solidFill>
                <a:latin typeface="Calibri"/>
              </a:rPr>
              <a:t>; consolidar la espinela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5303520"/>
            <a:ext cx="1115568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A5A12"/>
                </a:solidFill>
                <a:latin typeface="Calibri"/>
              </a:rPr>
              <a:t>Reacciones de precipitación: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596128"/>
            <a:ext cx="11155680" cy="6858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3262B"/>
                </a:solidFill>
                <a:latin typeface="Calibri"/>
              </a:rPr>
              <a:t>Fe(NO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)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 + 3 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NH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OH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 → 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Fe(OH)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↓ + 3 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NH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500" b="0" i="0">
                <a:solidFill>
                  <a:srgbClr val="23262B"/>
                </a:solidFill>
                <a:latin typeface="Calibri"/>
              </a:rPr>
              <a:t>NO</a:t>
            </a:r>
            <a:r>
              <a:rPr sz="990" b="0" i="0" baseline="-25000">
                <a:solidFill>
                  <a:srgbClr val="23262B"/>
                </a:solidFill>
                <a:latin typeface="Calibri"/>
              </a:rPr>
              <a:t>3</a:t>
            </a:r>
          </a:p>
          <a:p>
            <a:pPr>
              <a:lnSpc>
                <a:spcPct val="135000"/>
              </a:lnSpc>
            </a:pPr>
            <a:r>
              <a:rPr sz="1500">
                <a:solidFill>
                  <a:srgbClr val="23262B"/>
                </a:solidFill>
                <a:latin typeface="Calibri"/>
              </a:rPr>
              <a:t>Mg(NO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3</a:t>
            </a:r>
            <a:r>
              <a:rPr sz="1500">
                <a:solidFill>
                  <a:srgbClr val="23262B"/>
                </a:solidFill>
                <a:latin typeface="Calibri"/>
              </a:rPr>
              <a:t>)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500">
                <a:solidFill>
                  <a:srgbClr val="23262B"/>
                </a:solidFill>
                <a:latin typeface="Calibri"/>
              </a:rPr>
              <a:t> + 2 </a:t>
            </a:r>
            <a:r>
              <a:rPr sz="1500">
                <a:solidFill>
                  <a:srgbClr val="23262B"/>
                </a:solidFill>
                <a:latin typeface="Calibri"/>
              </a:rPr>
              <a:t>NH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500">
                <a:solidFill>
                  <a:srgbClr val="23262B"/>
                </a:solidFill>
                <a:latin typeface="Calibri"/>
              </a:rPr>
              <a:t>OH</a:t>
            </a:r>
            <a:r>
              <a:rPr sz="1500">
                <a:solidFill>
                  <a:srgbClr val="23262B"/>
                </a:solidFill>
                <a:latin typeface="Calibri"/>
              </a:rPr>
              <a:t> → </a:t>
            </a:r>
            <a:r>
              <a:rPr sz="1500">
                <a:solidFill>
                  <a:srgbClr val="23262B"/>
                </a:solidFill>
                <a:latin typeface="Calibri"/>
              </a:rPr>
              <a:t>Mg(OH)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2</a:t>
            </a:r>
            <a:r>
              <a:rPr sz="1500">
                <a:solidFill>
                  <a:srgbClr val="23262B"/>
                </a:solidFill>
                <a:latin typeface="Calibri"/>
              </a:rPr>
              <a:t>↓ + 2 </a:t>
            </a:r>
            <a:r>
              <a:rPr sz="1500">
                <a:solidFill>
                  <a:srgbClr val="23262B"/>
                </a:solidFill>
                <a:latin typeface="Calibri"/>
              </a:rPr>
              <a:t>NH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4</a:t>
            </a:r>
            <a:r>
              <a:rPr sz="1500">
                <a:solidFill>
                  <a:srgbClr val="23262B"/>
                </a:solidFill>
                <a:latin typeface="Calibri"/>
              </a:rPr>
              <a:t>NO</a:t>
            </a:r>
            <a:r>
              <a:rPr sz="990" baseline="-25000">
                <a:solidFill>
                  <a:srgbClr val="23262B"/>
                </a:solidFill>
                <a:latin typeface="Calibri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RESULTADOS — DRX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Dos fases: hematita dominante + espinela minoritaria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8056" y="1362456"/>
            <a:ext cx="5296363" cy="4133088"/>
          </a:xfrm>
          <a:prstGeom prst="rect">
            <a:avLst/>
          </a:prstGeom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623560"/>
            <a:ext cx="5294376" cy="5943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F5A52"/>
                </a:solidFill>
                <a:latin typeface="Calibri"/>
              </a:rPr>
              <a:t>Rietveld con HighScore Plus 3.0 (pseudo-Voigt, doblete Kα1/Kα2, fondo polinomial): perfil observado y posiciones de Bragg.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1417320"/>
            <a:ext cx="4206240" cy="960120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417320"/>
            <a:ext cx="64008" cy="960120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1527048"/>
            <a:ext cx="3886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F5A52"/>
                </a:solidFill>
                <a:latin typeface="Calibri"/>
              </a:rPr>
              <a:t>FASE MAYORITARIA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53528" y="1801368"/>
            <a:ext cx="3886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62B"/>
                </a:solidFill>
                <a:latin typeface="Georgia"/>
              </a:rPr>
              <a:t>Hematita α-</a:t>
            </a:r>
            <a:r>
              <a:rPr sz="2600" b="1" i="0">
                <a:solidFill>
                  <a:srgbClr val="23262B"/>
                </a:solidFill>
                <a:latin typeface="Georgia"/>
              </a:rPr>
              <a:t>Fe</a:t>
            </a:r>
            <a:r>
              <a:rPr sz="1716" b="1" i="0" baseline="-25000">
                <a:solidFill>
                  <a:srgbClr val="23262B"/>
                </a:solidFill>
                <a:latin typeface="Georgia"/>
              </a:rPr>
              <a:t>2</a:t>
            </a:r>
            <a:r>
              <a:rPr sz="2600" b="1" i="0">
                <a:solidFill>
                  <a:srgbClr val="23262B"/>
                </a:solidFill>
                <a:latin typeface="Georgia"/>
              </a:rPr>
              <a:t>O</a:t>
            </a:r>
            <a:r>
              <a:rPr sz="1716" b="1" i="0" baseline="-25000">
                <a:solidFill>
                  <a:srgbClr val="23262B"/>
                </a:solidFill>
                <a:latin typeface="Georgia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2514600"/>
            <a:ext cx="4206240" cy="960120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360" y="2514600"/>
            <a:ext cx="64008" cy="96012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2624328"/>
            <a:ext cx="3886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F5A52"/>
                </a:solidFill>
                <a:latin typeface="Calibri"/>
              </a:rPr>
              <a:t>FASE MINORITARIA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3528" y="2898648"/>
            <a:ext cx="3886200" cy="5029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3262B"/>
                </a:solidFill>
                <a:latin typeface="Georgia"/>
              </a:rPr>
              <a:t>Espinela </a:t>
            </a:r>
            <a:r>
              <a:rPr sz="2600" b="1" i="0">
                <a:solidFill>
                  <a:srgbClr val="23262B"/>
                </a:solidFill>
                <a:latin typeface="Georgia"/>
              </a:rPr>
              <a:t>MgFe</a:t>
            </a:r>
            <a:r>
              <a:rPr sz="1716" b="1" i="0" baseline="-25000">
                <a:solidFill>
                  <a:srgbClr val="23262B"/>
                </a:solidFill>
                <a:latin typeface="Georgia"/>
              </a:rPr>
              <a:t>2</a:t>
            </a:r>
            <a:r>
              <a:rPr sz="2600" b="1" i="0">
                <a:solidFill>
                  <a:srgbClr val="23262B"/>
                </a:solidFill>
                <a:latin typeface="Georgia"/>
              </a:rPr>
              <a:t>O</a:t>
            </a:r>
            <a:r>
              <a:rPr sz="1716" b="1" i="0" baseline="-25000">
                <a:solidFill>
                  <a:srgbClr val="23262B"/>
                </a:solidFill>
                <a:latin typeface="Georg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3657600"/>
            <a:ext cx="4251960" cy="23774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 i="0">
                <a:solidFill>
                  <a:srgbClr val="23262B"/>
                </a:solidFill>
                <a:latin typeface="Calibri"/>
              </a:rPr>
              <a:t>Picos diagnósticos: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F5A52"/>
                </a:solidFill>
                <a:latin typeface="Calibri"/>
              </a:rPr>
              <a:t>hematita 104 en 33.2°; espinela 220/400 en 30.1°/43.2°. No se detectó MgO ni Mg(OH)2.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 i="0">
                <a:solidFill>
                  <a:srgbClr val="23262B"/>
                </a:solidFill>
                <a:latin typeface="Calibri"/>
              </a:rPr>
              <a:t>Cuantificación HighScore Plus: 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5F5A52"/>
                </a:solidFill>
                <a:latin typeface="Calibri"/>
              </a:rPr>
              <a:t>hematita 96.3/95.3 %; espinela 3.7/4.7 % (400/600 °C).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  <p:pic>
        <p:nvPicPr>
          <p:cNvPr id="21" name="Picture 20" descr="xrd_high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091" y="1417320"/>
            <a:ext cx="438629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RESULTADOS — DRX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Cuantificación (HighScore Plus) y cristalinidad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63040"/>
          <a:ext cx="6949440" cy="448056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  <a:gridCol w="1828800"/>
              </a:tblGrid>
              <a:tr h="448056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XRD1 (400 °C)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XRD2 (600 °C)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A8432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A8432B"/>
                          </a:solidFill>
                          <a:latin typeface="Calibri"/>
                        </a:rPr>
                        <a:t>Hematita (% peso)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A8432B"/>
                          </a:solidFill>
                          <a:latin typeface="Calibri"/>
                        </a:rPr>
                        <a:t>96.3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A8432B"/>
                          </a:solidFill>
                          <a:latin typeface="Calibri"/>
                        </a:rPr>
                        <a:t>95.3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6390"/>
                          </a:solidFill>
                          <a:latin typeface="Calibri"/>
                        </a:rPr>
                        <a:t>Espinela MgFe2O4 (% peso)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F6390"/>
                          </a:solidFill>
                          <a:latin typeface="Calibri"/>
                        </a:rPr>
                        <a:t>3.7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F6390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262B"/>
                          </a:solidFill>
                          <a:latin typeface="Calibri"/>
                        </a:rPr>
                        <a:t>Rwp / GOF (HighScore Plus)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1.46 % / 0.72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1.54 % / 0.72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262B"/>
                          </a:solidFill>
                          <a:latin typeface="Calibri"/>
                        </a:rPr>
                        <a:t>a hematita (Å)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5.0378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5.0358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 i="1">
                          <a:solidFill>
                            <a:srgbClr val="23262B"/>
                          </a:solidFill>
                          <a:latin typeface="Calibri"/>
                        </a:rPr>
                        <a:t>c hematita (Å)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13.759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13.746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 i="1">
                          <a:solidFill>
                            <a:srgbClr val="23262B"/>
                          </a:solidFill>
                          <a:latin typeface="Calibri"/>
                        </a:rPr>
                        <a:t>a espinela (Å)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8.350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8.381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262B"/>
                          </a:solidFill>
                          <a:latin typeface="Calibri"/>
                        </a:rPr>
                        <a:t>FWHM global (°)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0.474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0.275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262B"/>
                          </a:solidFill>
                          <a:latin typeface="Calibri"/>
                        </a:rPr>
                        <a:t>D Scherrer (nm)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18.2 ± 0.9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28.7 ± 1.6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4EEE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3262B"/>
                          </a:solidFill>
                          <a:latin typeface="Calibri"/>
                        </a:rPr>
                        <a:t>W–H: D (nm) / ε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21 ± 5 / 0.0006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262B"/>
                          </a:solidFill>
                          <a:latin typeface="Calibri"/>
                        </a:rPr>
                        <a:t>76 ± 30 / 0.0019</a:t>
                      </a:r>
                    </a:p>
                  </a:txBody>
                  <a:tcPr anchor="ctr" marT="27432" marB="27432">
                    <a:lnB w="9525" cap="flat" cmpd="sng" algn="ctr">
                      <a:solidFill>
                        <a:srgbClr val="CFC2A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0" y="1463040"/>
            <a:ext cx="3931920" cy="47548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1" i="0">
                <a:solidFill>
                  <a:srgbClr val="8A5A12"/>
                </a:solidFill>
                <a:latin typeface="Calibri"/>
              </a:rPr>
              <a:t>¿Por qué se privilegia HighScore Plus?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0" i="0">
                <a:solidFill>
                  <a:srgbClr val="23262B"/>
                </a:solidFill>
                <a:latin typeface="Calibri"/>
              </a:rPr>
              <a:t>Es un motor Rietveld completo (pseudo-Voigt, doblete Kα1/Kα2, fondo polinomial). Las fracciones en peso usan el factor de Hill–Howard W ∝ S·Z·M·V.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1" i="0">
                <a:solidFill>
                  <a:srgbClr val="23262B"/>
                </a:solidFill>
                <a:latin typeface="Calibri"/>
              </a:rPr>
              <a:t>Control in-house: un modelo mínimo (pseudo-Voigt, un FWHM) reprodujo las mismas fases y confirmó la dominancia de hematita; no se usó para cuantificar.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50" b="1" i="0">
                <a:solidFill>
                  <a:srgbClr val="23262B"/>
                </a:solidFill>
                <a:latin typeface="Calibri"/>
              </a:rPr>
              <a:t>Lectura: hematita ≈ 95–96 % y espinela ≈ 4–5 % en ambas pasadas. La recalc a 600 °C no cambia la fase mayoritaria, pero reduce el FWHM a la mitad (D: 18 → 29 nm).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RESULTADOS — DRX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Tamaño de cristalito: Scherrer y Williamson–Hall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8056" y="1408176"/>
            <a:ext cx="7059168" cy="2719352"/>
          </a:xfrm>
          <a:prstGeom prst="rect">
            <a:avLst/>
          </a:prstGeom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xrd_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6949440" cy="2609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279392"/>
            <a:ext cx="694944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F5A52"/>
                </a:solidFill>
                <a:latin typeface="Calibri"/>
              </a:rPr>
              <a:t>Scherrer: D = 0.9λ/(β cos θ), con β corregido por el ancho instrumental (0.05°). W–H: βcosθ = Kλ/D + 4ε sinθ — al graficar vs 4senθ/λ, el intercepto da D y la pendiente ελ.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463040"/>
            <a:ext cx="3886200" cy="1170432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1463040"/>
            <a:ext cx="64008" cy="1170432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1581912"/>
            <a:ext cx="356616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5A52"/>
                </a:solidFill>
                <a:latin typeface="Calibri"/>
              </a:rPr>
              <a:t>D SCHERRER 400 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1847088"/>
            <a:ext cx="3611880" cy="56692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3262B"/>
                </a:solidFill>
                <a:latin typeface="Georgia"/>
              </a:rPr>
              <a:t>18.2 ± 0.9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2834640"/>
            <a:ext cx="3886200" cy="1170432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2834640"/>
            <a:ext cx="64008" cy="11704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8" y="2953512"/>
            <a:ext cx="356616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5A52"/>
                </a:solidFill>
                <a:latin typeface="Calibri"/>
              </a:rPr>
              <a:t>D SCHERRER 600 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3218688"/>
            <a:ext cx="3611880" cy="56692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3262B"/>
                </a:solidFill>
                <a:latin typeface="Georgia"/>
              </a:rPr>
              <a:t>28.7 ± 1.6 nm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206240"/>
            <a:ext cx="3886200" cy="1170432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4206240"/>
            <a:ext cx="64008" cy="1170432"/>
          </a:xfrm>
          <a:prstGeom prst="rect">
            <a:avLst/>
          </a:prstGeom>
          <a:solidFill>
            <a:srgbClr val="B07E2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73568" y="4325112"/>
            <a:ext cx="3566160" cy="2560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5A52"/>
                </a:solidFill>
                <a:latin typeface="Calibri"/>
              </a:rPr>
              <a:t>ε (W–H, 600 °C)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4590288"/>
            <a:ext cx="3611880" cy="56692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3262B"/>
                </a:solidFill>
                <a:latin typeface="Georgia"/>
              </a:rPr>
              <a:t>0.0019 ± 0.0004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138928"/>
            <a:ext cx="6949440" cy="7315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5F5A52"/>
                </a:solidFill>
                <a:latin typeface="Calibri"/>
              </a:rPr>
              <a:t>A 400 °C la deformación no es resoluble (ε compatible con 0): el ensanchamiento es por tamaño.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RESULTADOS — SEM/EDS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Grano ~141 nm (aglomerados) y EDS con Mg subestimado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8056" y="1408176"/>
            <a:ext cx="7059168" cy="2717361"/>
          </a:xfrm>
          <a:prstGeom prst="rect">
            <a:avLst/>
          </a:prstGeom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sem_grain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463040"/>
            <a:ext cx="6949440" cy="26076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370832"/>
            <a:ext cx="6949440" cy="3200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8A5A12"/>
                </a:solidFill>
                <a:latin typeface="Calibri"/>
              </a:rPr>
              <a:t>CÓMO SE MIDIÓ EL GRANO (pipeline, sem_grain_analysis.ipynb)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63440"/>
            <a:ext cx="6949440" cy="16002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150" b="0" i="0">
                <a:solidFill>
                  <a:srgbClr val="5F5A52"/>
                </a:solidFill>
                <a:latin typeface="Calibri"/>
              </a:rPr>
              <a:t>1) Recorte de la barra de info (60 px) · 2) Gaussiana σ=2 px · 3) Umbral de Otsu + morfología (cierre 5×5 / apertura 3×3) · 4) Transformada de distancia + máximos locales → watershed que separa granos tocándose · 5) Diámetro circular equivalente d = 2√(A/π) por región (d &gt; 5 px) × tamaño de píxel (13.51 nm/px a 20k×, 7.51 nm/px a 36k×, de los metadatos).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150" b="0" i="0">
                <a:solidFill>
                  <a:srgbClr val="5F5A52"/>
                </a:solidFill>
                <a:latin typeface="Calibri"/>
              </a:rPr>
              <a:t>Distribución lognormal, N = 936 granos (20k× + 36k×). Grano SEM muy superior al cristalito DRX (≈18–29 nm): cada grano es un aglomerado policristalino (~5–7 cristalitos).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463040"/>
            <a:ext cx="3886200" cy="1051560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1463040"/>
            <a:ext cx="64008" cy="1051560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1572768"/>
            <a:ext cx="356616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5A52"/>
                </a:solidFill>
                <a:latin typeface="Calibri"/>
              </a:rPr>
              <a:t>TAMAÑO DE GRANO (MEDIA)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1847088"/>
            <a:ext cx="3566160" cy="5943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3262B"/>
                </a:solidFill>
                <a:latin typeface="Georgia"/>
              </a:rPr>
              <a:t>141 ± 2.4 nm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2651760"/>
            <a:ext cx="3886200" cy="1051560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2651760"/>
            <a:ext cx="64008" cy="1051560"/>
          </a:xfrm>
          <a:prstGeom prst="rect">
            <a:avLst/>
          </a:prstGeom>
          <a:solidFill>
            <a:srgbClr val="2F6390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8" y="2761488"/>
            <a:ext cx="356616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F5A52"/>
                </a:solidFill>
                <a:latin typeface="Calibri"/>
              </a:rPr>
              <a:t>MEDIANA / D10–D90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035808"/>
            <a:ext cx="3566160" cy="5943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3262B"/>
                </a:solidFill>
                <a:latin typeface="Georgia"/>
              </a:rPr>
              <a:t>132 / 73–246 nm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3831336"/>
            <a:ext cx="3995928" cy="1496637"/>
          </a:xfrm>
          <a:prstGeom prst="rect">
            <a:avLst/>
          </a:prstGeom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sem_e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886200"/>
            <a:ext cx="3886200" cy="138690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0" y="5486400"/>
            <a:ext cx="3931920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F5A52"/>
                </a:solidFill>
                <a:latin typeface="Calibri"/>
              </a:rPr>
              <a:t>EDS (C-free): Fe 63.0 %, O 36.1 %, Mg 0.9 % → Fe:Mg ≈ 69:1 vs 4.6:1 estequiométrico (Mg Kα a 1.25 keV, cerca del límite de detección).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RESULTADOS — UV-VIS-NIR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Tauc con dos líneas: dos fases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8056" y="1362456"/>
            <a:ext cx="7699248" cy="2283625"/>
          </a:xfrm>
          <a:prstGeom prst="rect">
            <a:avLst/>
          </a:prstGeom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uvvis_t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7320"/>
            <a:ext cx="7589520" cy="21738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66760" y="1417320"/>
            <a:ext cx="3337560" cy="251460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</a:pPr>
            <a:r>
              <a:rPr sz="1250" b="1" i="0">
                <a:solidFill>
                  <a:srgbClr val="23262B"/>
                </a:solidFill>
                <a:latin typeface="Calibri"/>
              </a:rPr>
              <a:t>Kubelka–Munk: </a:t>
            </a:r>
            <a:r>
              <a:rPr sz="1250" b="0" i="0">
                <a:solidFill>
                  <a:srgbClr val="5F5A52"/>
                </a:solidFill>
                <a:latin typeface="Calibri"/>
              </a:rPr>
              <a:t>F(R) = (1−R)²/2R. La derivada d[F(R)]/dE muestra onsets en 1.56 y 1.62 eV (~770–795 nm). R ≈ 6.5 % en el visible (pigmento café-rojizo oscuro) y meseta NIR R ≈ 0.37.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0520"/>
            <a:ext cx="3419856" cy="1325880"/>
          </a:xfrm>
          <a:prstGeom prst="rect"/>
          <a:solidFill>
            <a:srgbClr val="FFFFFF"/>
          </a:solidFill>
          <a:ln w="9525">
            <a:solidFill>
              <a:srgbClr val="2F6390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315968"/>
            <a:ext cx="3145536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F6390"/>
                </a:solidFill>
                <a:latin typeface="Calibri"/>
              </a:rPr>
              <a:t>LÍNEA 1 — ESPINELA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44568"/>
            <a:ext cx="3145536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3262B"/>
                </a:solidFill>
                <a:latin typeface="Georgia"/>
              </a:rPr>
              <a:t>Eg ≈ 1.63 ± 0.02 eV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2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792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792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 (n = 1/2)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87368" y="4160520"/>
            <a:ext cx="3419856" cy="1325880"/>
          </a:xfrm>
          <a:prstGeom prst="rect"/>
          <a:solidFill>
            <a:srgbClr val="FFFFFF"/>
          </a:solidFill>
          <a:ln w="9525">
            <a:solidFill>
              <a:srgbClr val="A8432B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4528" y="4315968"/>
            <a:ext cx="3145536" cy="23774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A8432B"/>
                </a:solidFill>
                <a:latin typeface="Calibri"/>
              </a:rPr>
              <a:t>LÍNEA 2 — HEMATITA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4544568"/>
            <a:ext cx="3145536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23262B"/>
                </a:solidFill>
                <a:latin typeface="Georgia"/>
              </a:rPr>
              <a:t>Eg ≈ 2.00 ± 0.03 eV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200" b="0" i="0">
                <a:solidFill>
                  <a:srgbClr val="5F5A52"/>
                </a:solidFill>
                <a:latin typeface="Calibri"/>
              </a:rPr>
              <a:t>α-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Fe</a:t>
            </a:r>
            <a:r>
              <a:rPr sz="792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792" b="0" i="0" baseline="-25000">
                <a:solidFill>
                  <a:srgbClr val="5F5A52"/>
                </a:solidFill>
                <a:latin typeface="Calibri"/>
              </a:rPr>
              <a:t>3</a:t>
            </a:r>
            <a:r>
              <a:rPr sz="1200" b="0" i="0">
                <a:solidFill>
                  <a:srgbClr val="5F5A52"/>
                </a:solidFill>
                <a:latin typeface="Calibri"/>
              </a:rPr>
              <a:t> (n = 2), fase dominante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160520"/>
            <a:ext cx="3337560" cy="17830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5F5A52"/>
                </a:solidFill>
                <a:latin typeface="Calibri"/>
              </a:rPr>
              <a:t>Las dos rectas del Tauc corresponden a las dos fases del Rietveld, no a dos exponentes de un mismo borde. Valores de literatura: hematita 2.0–2.2 eV; </a:t>
            </a:r>
            <a:r>
              <a:rPr sz="125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825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250" b="0" i="0">
                <a:solidFill>
                  <a:srgbClr val="5F5A52"/>
                </a:solidFill>
                <a:latin typeface="Calibri"/>
              </a:rPr>
              <a:t>O</a:t>
            </a:r>
            <a:r>
              <a:rPr sz="825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250" b="0" i="0">
                <a:solidFill>
                  <a:srgbClr val="5F5A52"/>
                </a:solidFill>
                <a:latin typeface="Calibri"/>
              </a:rPr>
              <a:t> 1.6–1.9 eV.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82296" cy="713232"/>
          </a:xfrm>
          <a:prstGeom prst="rect">
            <a:avLst/>
          </a:prstGeom>
          <a:solidFill>
            <a:srgbClr val="A8432B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47472"/>
            <a:ext cx="96012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A5A12"/>
                </a:solidFill>
                <a:latin typeface="Calibr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603504"/>
            <a:ext cx="10378440" cy="54864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3262B"/>
                </a:solidFill>
                <a:latin typeface="Georgia"/>
              </a:rPr>
              <a:t>Conclusiones y próximos pasos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411480"/>
            <a:ext cx="54864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</a:pPr>
            <a:r>
              <a:rPr sz="1300" b="0" i="0">
                <a:solidFill>
                  <a:srgbClr val="5F5A52"/>
                </a:solidFill>
                <a:latin typeface="Calibri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1183112" cy="10972"/>
          </a:xfrm>
          <a:prstGeom prst="rect">
            <a:avLst/>
          </a:prstGeom>
          <a:solidFill>
            <a:srgbClr val="DCD2C2"/>
          </a:solidFill>
          <a:ln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5486400" cy="3986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19072"/>
            <a:ext cx="502920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8432B"/>
                </a:solidFill>
                <a:latin typeface="Calibri"/>
              </a:rPr>
              <a:t>CONCLUSIONES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5029200" cy="321868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A8432B"/>
                </a:solidFill>
                <a:latin typeface="Calibri"/>
              </a:rPr>
              <a:t>• La muestra NO es espinela pura: mezcla ≈ 95–96 % hematita + ≈ 4–5 % espinela (HighScore Plus, Rwp 1.46–1.54 %, GOF ≈ 0.72).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A8432B"/>
                </a:solidFill>
                <a:latin typeface="Calibri"/>
              </a:rPr>
              <a:t>• Recalcinación a 600 °C: no cambia la fase mayoritaria; FWHM 0.474° → 0.275° y cristalitos 18 → 29 nm (mayor cristalinidad).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A8432B"/>
                </a:solidFill>
                <a:latin typeface="Calibri"/>
              </a:rPr>
              <a:t>• Tauc con dos líneas = dos fases: espinela ≈ 1.6 eV, hematita ≈ 2.0 eV.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A8432B"/>
                </a:solidFill>
                <a:latin typeface="Calibri"/>
              </a:rPr>
              <a:t>• Granos SEM 141 ± 2.4 nm = aglomerados de ~5–7 cristalitos DRX.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A8432B"/>
                </a:solidFill>
                <a:latin typeface="Calibri"/>
              </a:rPr>
              <a:t>• EDS subestima Mg (Fe:Mg ≈ 69:1 vs 4.6:1); el Mg está en la espinela minoritaria.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81328"/>
            <a:ext cx="5440680" cy="3986784"/>
          </a:xfrm>
          <a:prstGeom prst="rect"/>
          <a:solidFill>
            <a:srgbClr val="FFFFFF"/>
          </a:solidFill>
          <a:ln w="9525">
            <a:solidFill>
              <a:srgbClr val="DCD2C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719072"/>
            <a:ext cx="4937760" cy="3657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F6390"/>
                </a:solidFill>
                <a:latin typeface="Calibri"/>
              </a:rPr>
              <a:t>PRÓXIMOS PASOS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218688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2F6390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Repetir la síntesis ajustando pH y temperatura de calcinación para aumentar la espinela (meta: fase mayoritaria).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2F6390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Cuantificar Mg por ICP para cerrar el balance másico.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2F6390"/>
                </a:solidFill>
                <a:latin typeface="Calibri"/>
              </a:rPr>
              <a:t>• Refinar en HighScore Plus con March–Dollase y términos de tamaño/deformación separados.</a:t>
            </a:r>
          </a:p>
          <a:p>
            <a:pPr algn="l" marL="201168" indent="-201168">
              <a:lnSpc>
                <a:spcPct val="126000"/>
              </a:lnSpc>
              <a:spcAft>
                <a:spcPts val="1200"/>
              </a:spcAft>
            </a:pPr>
            <a:r>
              <a:rPr sz="1400" b="1" i="0">
                <a:solidFill>
                  <a:srgbClr val="2F6390"/>
                </a:solidFill>
                <a:latin typeface="Calibri"/>
              </a:rPr>
              <a:t>• </a:t>
            </a:r>
            <a:r>
              <a:rPr sz="1400" b="0" i="0">
                <a:solidFill>
                  <a:srgbClr val="23262B"/>
                </a:solidFill>
                <a:latin typeface="Calibri"/>
              </a:rPr>
              <a:t>Completar marco teórico y montaje experimental en el artículo.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F5A52"/>
                </a:solidFill>
                <a:latin typeface="Calibri"/>
              </a:rPr>
              <a:t>Avances 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MgFe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2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O</a:t>
            </a:r>
            <a:r>
              <a:rPr sz="660" b="0" i="0" baseline="-25000">
                <a:solidFill>
                  <a:srgbClr val="5F5A52"/>
                </a:solidFill>
                <a:latin typeface="Calibri"/>
              </a:rPr>
              <a:t>4</a:t>
            </a:r>
            <a:r>
              <a:rPr sz="1000" b="0" i="0">
                <a:solidFill>
                  <a:srgbClr val="5F5A52"/>
                </a:solidFill>
                <a:latin typeface="Calibri"/>
              </a:rPr>
              <a:t> — UNAL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
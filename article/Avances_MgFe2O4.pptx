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F6390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64208"/>
            <a:ext cx="1051560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A5A12"/>
                </a:solidFill>
                <a:latin typeface="Calibri"/>
              </a:rPr>
              <a:t>UNIVERSIDAD NACIONAL DE COLOMBIA — PROYECTO DE GRADO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789920" cy="1417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23262B"/>
                </a:solidFill>
                <a:latin typeface="Georgia"/>
              </a:rPr>
              <a:t>Avances: </a:t>
            </a:r>
            <a:r>
              <a:rPr sz="4200" b="1" i="0">
                <a:solidFill>
                  <a:srgbClr val="A8432B"/>
                </a:solidFill>
                <a:latin typeface="Georgia"/>
              </a:rPr>
              <a:t>Síntesis y caracterización</a:t>
            </a:r>
          </a:p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23262B"/>
                </a:solidFill>
                <a:latin typeface="Georgia"/>
              </a:rPr>
              <a:t>de MgFe</a:t>
            </a:r>
            <a:r>
              <a:rPr sz="2800" b="1" i="0" baseline="-25000">
                <a:solidFill>
                  <a:srgbClr val="23262B"/>
                </a:solidFill>
                <a:latin typeface="Georgia"/>
              </a:rPr>
              <a:t>2</a:t>
            </a:r>
            <a:r>
              <a:rPr sz="4200" b="1" i="0">
                <a:solidFill>
                  <a:srgbClr val="23262B"/>
                </a:solidFill>
                <a:latin typeface="Georgia"/>
              </a:rPr>
              <a:t>O</a:t>
            </a:r>
            <a:r>
              <a:rPr sz="2800" b="1" i="0" baseline="-25000">
                <a:solidFill>
                  <a:srgbClr val="23262B"/>
                </a:solidFill>
                <a:latin typeface="Georgia"/>
              </a:rPr>
              <a:t>4</a:t>
            </a:r>
            <a:r>
              <a:rPr sz="4200" b="1" i="0">
                <a:solidFill>
                  <a:srgbClr val="23262B"/>
                </a:solidFill>
                <a:latin typeface="Georgia"/>
              </a:rPr>
              <a:t> por co-precipitación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85615"/>
            <a:ext cx="1051560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5F5A52"/>
                </a:solidFill>
                <a:latin typeface="Calibri"/>
              </a:rPr>
              <a:t>Ruta: co-precipitación química → calcinación 400 °C → recalc 600 °C → DRX / SEM-EDS / UV-Vis-NIR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89120"/>
            <a:ext cx="4206240" cy="18288"/>
          </a:xfrm>
          <a:prstGeom prst="rect">
            <a:avLst/>
          </a:prstGeom>
          <a:solidFill>
            <a:srgbClr val="DCD2C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636008"/>
            <a:ext cx="1051560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3262B"/>
                </a:solidFill>
                <a:latin typeface="Calibri"/>
              </a:rPr>
              <a:t>Martina García Mejía · Laura Alejandra Sosa Ballen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3262B"/>
                </a:solidFill>
                <a:latin typeface="Calibri"/>
              </a:rPr>
              <a:t>Semillero de investigación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601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5A12"/>
                </a:solidFill>
                <a:latin typeface="Calibri"/>
              </a:rPr>
              <a:t>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1037844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3262B"/>
                </a:solidFill>
                <a:latin typeface="Georgia"/>
              </a:rPr>
              <a:t>Objetivo y método de síntesis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11480"/>
            <a:ext cx="54864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5F5A52"/>
                </a:solidFill>
                <a:latin typeface="Calibr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1183112" cy="10972"/>
          </a:xfrm>
          <a:prstGeom prst="rect">
            <a:avLst/>
          </a:prstGeom>
          <a:solidFill>
            <a:srgbClr val="DCD2C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57784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A5A12"/>
                </a:solidFill>
                <a:latin typeface="Calibri"/>
              </a:rPr>
              <a:t>OBJETIVO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577840" cy="20116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23262B"/>
                </a:solidFill>
                <a:latin typeface="Calibri"/>
              </a:rPr>
              <a:t>Sintetizar la espinela </a:t>
            </a:r>
            <a:r>
              <a:rPr sz="1700" b="0" i="0">
                <a:solidFill>
                  <a:srgbClr val="23262B"/>
                </a:solidFill>
                <a:latin typeface="Calibri"/>
              </a:rPr>
              <a:t>MgFe</a:t>
            </a:r>
            <a:r>
              <a:rPr sz="1122" b="0" i="0" baseline="-25000">
                <a:solidFill>
                  <a:srgbClr val="23262B"/>
                </a:solidFill>
                <a:latin typeface="Calibri"/>
              </a:rPr>
              <a:t>2</a:t>
            </a:r>
            <a:r>
              <a:rPr sz="1700" b="0" i="0">
                <a:solidFill>
                  <a:srgbClr val="23262B"/>
                </a:solidFill>
                <a:latin typeface="Calibri"/>
              </a:rPr>
              <a:t>O</a:t>
            </a:r>
            <a:r>
              <a:rPr sz="1122" b="0" i="0" baseline="-25000">
                <a:solidFill>
                  <a:srgbClr val="23262B"/>
                </a:solidFill>
                <a:latin typeface="Calibri"/>
              </a:rPr>
              <a:t>4</a:t>
            </a:r>
            <a:r>
              <a:rPr sz="1700" b="0" i="0">
                <a:solidFill>
                  <a:srgbClr val="23262B"/>
                </a:solidFill>
                <a:latin typeface="Calibri"/>
              </a:rPr>
              <a:t> (ferrita de magnesio) por co-precipitación química en medio acuoso,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23262B"/>
                </a:solidFill>
                <a:latin typeface="Calibri"/>
              </a:rPr>
              <a:t>y caracterizarla estructural, morfológica y ópticamente (DRX, SEM-EDS, UV-Vis-NIR).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39312"/>
            <a:ext cx="5577840" cy="1938528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03904"/>
            <a:ext cx="512064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8432B"/>
                </a:solidFill>
                <a:latin typeface="Calibri"/>
              </a:rPr>
              <a:t>¿POR QUÉ CO-PRECIPITACIÓN?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14800"/>
            <a:ext cx="5166360" cy="13258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3262B"/>
                </a:solidFill>
                <a:latin typeface="Calibri"/>
              </a:rPr>
              <a:t>Precipitar </a:t>
            </a:r>
            <a:r>
              <a:rPr sz="1400" b="0" i="0">
                <a:solidFill>
                  <a:srgbClr val="23262B"/>
                </a:solidFill>
                <a:latin typeface="Calibri"/>
              </a:rPr>
              <a:t>Fe(OH)</a:t>
            </a:r>
            <a:r>
              <a:rPr sz="924" b="0" i="0" baseline="-25000">
                <a:solidFill>
                  <a:srgbClr val="23262B"/>
                </a:solidFill>
                <a:latin typeface="Calibri"/>
              </a:rPr>
              <a:t>3</a:t>
            </a:r>
            <a:r>
              <a:rPr sz="1400" b="0" i="0">
                <a:solidFill>
                  <a:srgbClr val="23262B"/>
                </a:solidFill>
                <a:latin typeface="Calibri"/>
              </a:rPr>
              <a:t> y </a:t>
            </a:r>
            <a:r>
              <a:rPr sz="1400" b="0" i="0">
                <a:solidFill>
                  <a:srgbClr val="23262B"/>
                </a:solidFill>
                <a:latin typeface="Calibri"/>
              </a:rPr>
              <a:t>Mg(OH)</a:t>
            </a:r>
            <a:r>
              <a:rPr sz="924" b="0" i="0" baseline="-25000">
                <a:solidFill>
                  <a:srgbClr val="23262B"/>
                </a:solidFill>
                <a:latin typeface="Calibri"/>
              </a:rPr>
              <a:t>2</a:t>
            </a:r>
            <a:r>
              <a:rPr sz="1400" b="0" i="0">
                <a:solidFill>
                  <a:srgbClr val="23262B"/>
                </a:solidFill>
                <a:latin typeface="Calibri"/>
              </a:rPr>
              <a:t> simultáneamente desde una solución con ambos cationes mezcla los metales a nivel atómico → óxido mixto homogéneo tras calcinar, a temperatura menor que la ruta cerámica convencional.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417320"/>
            <a:ext cx="530352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A5A12"/>
                </a:solidFill>
                <a:latin typeface="Calibri"/>
              </a:rPr>
              <a:t>ESTEQUIOMETRÍA (1 g de producto)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0" y="1828800"/>
          <a:ext cx="5303520" cy="1152144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Precursor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A843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 (g/mol)</a:t>
                      </a:r>
                    </a:p>
                  </a:txBody>
                  <a:tcPr marR="128016"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A843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teórico</a:t>
                      </a:r>
                    </a:p>
                  </a:txBody>
                  <a:tcPr marR="128016"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A843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pesado</a:t>
                      </a:r>
                    </a:p>
                  </a:txBody>
                  <a:tcPr marR="128016"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A843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Fe(NO</a:t>
                      </a:r>
                      <a:r>
                        <a:rPr sz="858" baseline="-25000">
                          <a:solidFill>
                            <a:srgbClr val="23262B"/>
                          </a:solidFill>
                          <a:latin typeface="Calibri"/>
                        </a:rPr>
                        <a:t>3</a:t>
                      </a:r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)</a:t>
                      </a:r>
                      <a:r>
                        <a:rPr sz="858" baseline="-25000">
                          <a:solidFill>
                            <a:srgbClr val="23262B"/>
                          </a:solidFill>
                          <a:latin typeface="Calibri"/>
                        </a:rPr>
                        <a:t>3</a:t>
                      </a:r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·9H</a:t>
                      </a:r>
                      <a:r>
                        <a:rPr sz="858" baseline="-25000">
                          <a:solidFill>
                            <a:srgbClr val="23262B"/>
                          </a:solidFill>
                          <a:latin typeface="Calibri"/>
                        </a:rPr>
                        <a:t>2</a:t>
                      </a:r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O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404.0</a:t>
                      </a:r>
                    </a:p>
                  </a:txBody>
                  <a:tcPr marR="128016"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4.04 g</a:t>
                      </a:r>
                    </a:p>
                  </a:txBody>
                  <a:tcPr marR="128016"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4.06 g</a:t>
                      </a:r>
                    </a:p>
                  </a:txBody>
                  <a:tcPr marR="128016"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Mg(NO</a:t>
                      </a:r>
                      <a:r>
                        <a:rPr sz="858" baseline="-25000">
                          <a:solidFill>
                            <a:srgbClr val="23262B"/>
                          </a:solidFill>
                          <a:latin typeface="Calibri"/>
                        </a:rPr>
                        <a:t>3</a:t>
                      </a:r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)</a:t>
                      </a:r>
                      <a:r>
                        <a:rPr sz="858" baseline="-25000">
                          <a:solidFill>
                            <a:srgbClr val="23262B"/>
                          </a:solidFill>
                          <a:latin typeface="Calibri"/>
                        </a:rPr>
                        <a:t>2</a:t>
                      </a:r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·6H</a:t>
                      </a:r>
                      <a:r>
                        <a:rPr sz="858" baseline="-25000">
                          <a:solidFill>
                            <a:srgbClr val="23262B"/>
                          </a:solidFill>
                          <a:latin typeface="Calibri"/>
                        </a:rPr>
                        <a:t>2</a:t>
                      </a:r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O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256.4</a:t>
                      </a:r>
                    </a:p>
                  </a:txBody>
                  <a:tcPr marR="128016"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1.28 g</a:t>
                      </a:r>
                    </a:p>
                  </a:txBody>
                  <a:tcPr marR="128016"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1.31 g</a:t>
                      </a:r>
                    </a:p>
                  </a:txBody>
                  <a:tcPr marR="128016"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00800" y="3310128"/>
            <a:ext cx="5303520" cy="21945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3262B"/>
                </a:solidFill>
                <a:latin typeface="Calibri"/>
              </a:rPr>
              <a:t>Relación molar Mg:Fe = 1:2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F5A52"/>
                </a:solidFill>
                <a:latin typeface="Calibri"/>
              </a:rPr>
              <a:t>M(</a:t>
            </a:r>
            <a:r>
              <a:rPr sz="140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924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4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924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400" b="0" i="0">
                <a:solidFill>
                  <a:srgbClr val="5F5A52"/>
                </a:solidFill>
                <a:latin typeface="Calibri"/>
              </a:rPr>
              <a:t>) = 200.0 g/mol → 5 mmol de </a:t>
            </a:r>
            <a:r>
              <a:rPr sz="1400" b="0" i="0">
                <a:solidFill>
                  <a:srgbClr val="5F5A52"/>
                </a:solidFill>
                <a:latin typeface="Calibri"/>
              </a:rPr>
              <a:t>Mg</a:t>
            </a:r>
            <a:r>
              <a:rPr sz="924" b="0" i="0" baseline="30000">
                <a:solidFill>
                  <a:srgbClr val="5F5A52"/>
                </a:solidFill>
                <a:latin typeface="Calibri"/>
              </a:rPr>
              <a:t>2+</a:t>
            </a:r>
            <a:r>
              <a:rPr sz="1400" b="0" i="0">
                <a:solidFill>
                  <a:srgbClr val="5F5A52"/>
                </a:solidFill>
                <a:latin typeface="Calibri"/>
              </a:rPr>
              <a:t> y 10 mmol de </a:t>
            </a:r>
            <a:r>
              <a:rPr sz="1400" b="0" i="0">
                <a:solidFill>
                  <a:srgbClr val="5F5A52"/>
                </a:solidFill>
                <a:latin typeface="Calibri"/>
              </a:rPr>
              <a:t>Fe</a:t>
            </a:r>
            <a:r>
              <a:rPr sz="924" b="0" i="0" baseline="30000">
                <a:solidFill>
                  <a:srgbClr val="5F5A52"/>
                </a:solidFill>
                <a:latin typeface="Calibri"/>
              </a:rPr>
              <a:t>3+</a:t>
            </a:r>
            <a:r>
              <a:rPr sz="1400" b="0" i="0">
                <a:solidFill>
                  <a:srgbClr val="5F5A52"/>
                </a:solidFill>
                <a:latin typeface="Calibri"/>
              </a:rPr>
              <a:t> por gramo de producto. Las masas pesadas están dentro del 1 % del valor teórico.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5A52"/>
                </a:solidFill>
                <a:latin typeface="Calibri"/>
              </a:rPr>
              <a:t>Avances 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 — UNAL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601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5A12"/>
                </a:solidFill>
                <a:latin typeface="Calibri"/>
              </a:rPr>
              <a:t>PROCEDIMIENTO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1037844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3262B"/>
                </a:solidFill>
                <a:latin typeface="Georgia"/>
              </a:rPr>
              <a:t>Ruta de síntesis: cada paso y su propósito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11480"/>
            <a:ext cx="54864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5F5A52"/>
                </a:solidFill>
                <a:latin typeface="Calibr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1183112" cy="10972"/>
          </a:xfrm>
          <a:prstGeom prst="rect">
            <a:avLst/>
          </a:prstGeom>
          <a:solidFill>
            <a:srgbClr val="DCD2C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81328"/>
            <a:ext cx="2651760" cy="1700784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2651760" cy="68580"/>
          </a:xfrm>
          <a:prstGeom prst="rect">
            <a:avLst/>
          </a:prstGeom>
          <a:solidFill>
            <a:srgbClr val="2F6390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64208"/>
            <a:ext cx="237744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Calibri"/>
              </a:rPr>
              <a:t>1. Disolución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2377440" cy="62179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F5A52"/>
                </a:solidFill>
                <a:latin typeface="Calibri"/>
              </a:rPr>
              <a:t>Cada nitrato se disuelve aparte en 25 ml de agua (400 rpm, 10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96896"/>
            <a:ext cx="237744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F6390"/>
                </a:solidFill>
                <a:latin typeface="Calibri"/>
              </a:rPr>
              <a:t>→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Soluciones homogéneas; nada precipita antes de mezclar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82112" y="2231136"/>
            <a:ext cx="118872" cy="201168"/>
          </a:xfrm>
          <a:prstGeom prst="rightArrow">
            <a:avLst/>
          </a:prstGeom>
          <a:solidFill>
            <a:srgbClr val="B07E2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28416" y="1481328"/>
            <a:ext cx="2651760" cy="1700784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28416" y="1481328"/>
            <a:ext cx="2651760" cy="68580"/>
          </a:xfrm>
          <a:prstGeom prst="rect">
            <a:avLst/>
          </a:prstGeom>
          <a:solidFill>
            <a:srgbClr val="2F6390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65576" y="1664208"/>
            <a:ext cx="237744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Calibri"/>
              </a:rPr>
              <a:t>2. Mezcla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5576" y="1975104"/>
            <a:ext cx="2377440" cy="62179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F5A52"/>
                </a:solidFill>
                <a:latin typeface="Calibri"/>
              </a:rPr>
              <a:t>Solución de Mg añadida poco a poco sobre la de Fe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5576" y="2596896"/>
            <a:ext cx="237744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F6390"/>
                </a:solidFill>
                <a:latin typeface="Calibri"/>
              </a:rPr>
              <a:t>→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Mezcla 1:2 a nivel molecular, sin gradientes locales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07608" y="2231136"/>
            <a:ext cx="118872" cy="201168"/>
          </a:xfrm>
          <a:prstGeom prst="rightArrow">
            <a:avLst/>
          </a:prstGeom>
          <a:solidFill>
            <a:srgbClr val="B07E2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53912" y="1481328"/>
            <a:ext cx="2651760" cy="1700784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53912" y="1481328"/>
            <a:ext cx="2651760" cy="68580"/>
          </a:xfrm>
          <a:prstGeom prst="rect">
            <a:avLst/>
          </a:prstGeom>
          <a:solidFill>
            <a:srgbClr val="2F6390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1072" y="1664208"/>
            <a:ext cx="237744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Calibri"/>
              </a:rPr>
              <a:t>3. Homogeneización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2" y="1975104"/>
            <a:ext cx="2377440" cy="62179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F5A52"/>
                </a:solidFill>
                <a:latin typeface="Calibri"/>
              </a:rPr>
              <a:t>600 rpm, 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2596896"/>
            <a:ext cx="237744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F6390"/>
                </a:solidFill>
                <a:latin typeface="Calibri"/>
              </a:rPr>
              <a:t>→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Mezcla binaria uniforme antes de precipitar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833104" y="2231136"/>
            <a:ext cx="118872" cy="201168"/>
          </a:xfrm>
          <a:prstGeom prst="rightArrow">
            <a:avLst/>
          </a:prstGeom>
          <a:solidFill>
            <a:srgbClr val="B07E2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79408" y="1481328"/>
            <a:ext cx="2651760" cy="1700784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79408" y="1481328"/>
            <a:ext cx="2651760" cy="68580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16568" y="1664208"/>
            <a:ext cx="237744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Calibri"/>
              </a:rPr>
              <a:t>4. Precipitación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16568" y="1975104"/>
            <a:ext cx="2377440" cy="62179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F5A52"/>
                </a:solidFill>
                <a:latin typeface="Calibri"/>
              </a:rPr>
              <a:t>NH</a:t>
            </a:r>
            <a:r>
              <a:rPr sz="792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200" b="0" i="0">
                <a:solidFill>
                  <a:srgbClr val="5F5A52"/>
                </a:solidFill>
                <a:latin typeface="Calibri"/>
              </a:rPr>
              <a:t>OH</a:t>
            </a:r>
            <a:r>
              <a:rPr sz="1200" b="0" i="0">
                <a:solidFill>
                  <a:srgbClr val="5F5A52"/>
                </a:solidFill>
                <a:latin typeface="Calibri"/>
              </a:rPr>
              <a:t> 30 % gota a gota hasta pH 10–11 (400 rpm)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16568" y="2596896"/>
            <a:ext cx="237744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A8432B"/>
                </a:solidFill>
                <a:latin typeface="Calibri"/>
              </a:rPr>
              <a:t>→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Fe</a:t>
            </a:r>
            <a:r>
              <a:rPr sz="693" b="0" i="0" baseline="30000">
                <a:solidFill>
                  <a:srgbClr val="23262B"/>
                </a:solidFill>
                <a:latin typeface="Calibri"/>
              </a:rPr>
              <a:t>3+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 y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Mg</a:t>
            </a:r>
            <a:r>
              <a:rPr sz="693" b="0" i="0" baseline="30000">
                <a:solidFill>
                  <a:srgbClr val="23262B"/>
                </a:solidFill>
                <a:latin typeface="Calibri"/>
              </a:rPr>
              <a:t>2+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 precipitan juntos como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Fe(OH)</a:t>
            </a:r>
            <a:r>
              <a:rPr sz="693" b="0" i="0" baseline="-25000">
                <a:solidFill>
                  <a:srgbClr val="23262B"/>
                </a:solidFill>
                <a:latin typeface="Calibri"/>
              </a:rPr>
              <a:t>3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 +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Mg(OH)</a:t>
            </a:r>
            <a:r>
              <a:rPr sz="693" b="0" i="0" baseline="-25000">
                <a:solidFill>
                  <a:srgbClr val="23262B"/>
                </a:solidFill>
                <a:latin typeface="Calibri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383280"/>
            <a:ext cx="2651760" cy="1700784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3383280"/>
            <a:ext cx="2651760" cy="68580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3566160"/>
            <a:ext cx="237744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Calibri"/>
              </a:rPr>
              <a:t>5. Maduración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877056"/>
            <a:ext cx="2377440" cy="62179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F5A52"/>
                </a:solidFill>
                <a:latin typeface="Calibri"/>
              </a:rPr>
              <a:t>95 °C, 2 h con agitación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498848"/>
            <a:ext cx="237744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A8432B"/>
                </a:solidFill>
                <a:latin typeface="Calibri"/>
              </a:rPr>
              <a:t>→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Nucleación y crecimiento del precursor; menos pérdida en lavado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3182112" y="4133088"/>
            <a:ext cx="118872" cy="201168"/>
          </a:xfrm>
          <a:prstGeom prst="rightArrow">
            <a:avLst/>
          </a:prstGeom>
          <a:solidFill>
            <a:srgbClr val="B07E2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328416" y="3383280"/>
            <a:ext cx="2651760" cy="1700784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28416" y="3383280"/>
            <a:ext cx="2651760" cy="68580"/>
          </a:xfrm>
          <a:prstGeom prst="rect">
            <a:avLst/>
          </a:prstGeom>
          <a:solidFill>
            <a:srgbClr val="2F6390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65576" y="3566160"/>
            <a:ext cx="237744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Calibri"/>
              </a:rPr>
              <a:t>6. Reposo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65576" y="3877056"/>
            <a:ext cx="2377440" cy="62179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F5A52"/>
                </a:solidFill>
                <a:latin typeface="Calibri"/>
              </a:rPr>
              <a:t>Tapa de aluminio con orificio, toda la noche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65576" y="4498848"/>
            <a:ext cx="237744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F6390"/>
                </a:solidFill>
                <a:latin typeface="Calibri"/>
              </a:rPr>
              <a:t>→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Evaporación controlada sin contaminación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6007608" y="4133088"/>
            <a:ext cx="118872" cy="201168"/>
          </a:xfrm>
          <a:prstGeom prst="rightArrow">
            <a:avLst/>
          </a:prstGeom>
          <a:solidFill>
            <a:srgbClr val="B07E2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53912" y="3383280"/>
            <a:ext cx="2651760" cy="1700784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53912" y="3383280"/>
            <a:ext cx="2651760" cy="68580"/>
          </a:xfrm>
          <a:prstGeom prst="rect">
            <a:avLst/>
          </a:prstGeom>
          <a:solidFill>
            <a:srgbClr val="2F6390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91072" y="3566160"/>
            <a:ext cx="237744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Calibri"/>
              </a:rPr>
              <a:t>7. Lavado + secado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91072" y="3877056"/>
            <a:ext cx="2377440" cy="62179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F5A52"/>
                </a:solidFill>
                <a:latin typeface="Calibri"/>
              </a:rPr>
              <a:t>3 lavados (8800 rpm, 7 min) + secado 90 °C, 12 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1072" y="4498848"/>
            <a:ext cx="237744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F6390"/>
                </a:solidFill>
                <a:latin typeface="Calibri"/>
              </a:rPr>
              <a:t>→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Eliminar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NH</a:t>
            </a:r>
            <a:r>
              <a:rPr sz="693" b="0" i="0" baseline="-25000">
                <a:solidFill>
                  <a:srgbClr val="23262B"/>
                </a:solidFill>
                <a:latin typeface="Calibri"/>
              </a:rPr>
              <a:t>4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NO</a:t>
            </a:r>
            <a:r>
              <a:rPr sz="693" b="0" i="0" baseline="-25000">
                <a:solidFill>
                  <a:srgbClr val="23262B"/>
                </a:solidFill>
                <a:latin typeface="Calibri"/>
              </a:rPr>
              <a:t>3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 y nitratos; evitar fases secundarias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8833104" y="4133088"/>
            <a:ext cx="118872" cy="201168"/>
          </a:xfrm>
          <a:prstGeom prst="rightArrow">
            <a:avLst/>
          </a:prstGeom>
          <a:solidFill>
            <a:srgbClr val="B07E2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979408" y="3383280"/>
            <a:ext cx="2651760" cy="1700784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79408" y="3383280"/>
            <a:ext cx="2651760" cy="68580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16568" y="3566160"/>
            <a:ext cx="237744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Calibri"/>
              </a:rPr>
              <a:t>8. Calcinación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16568" y="3877056"/>
            <a:ext cx="2377440" cy="62179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F5A52"/>
                </a:solidFill>
                <a:latin typeface="Calibri"/>
              </a:rPr>
              <a:t>300 °C 2 h → macerado → 400 °C 2 h → recalc. 600 °C 2 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16568" y="4498848"/>
            <a:ext cx="237744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A8432B"/>
                </a:solidFill>
                <a:latin typeface="Calibri"/>
              </a:rPr>
              <a:t>→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2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Fe(OH)</a:t>
            </a:r>
            <a:r>
              <a:rPr sz="693" b="0" i="0" baseline="-25000">
                <a:solidFill>
                  <a:srgbClr val="23262B"/>
                </a:solidFill>
                <a:latin typeface="Calibri"/>
              </a:rPr>
              <a:t>3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+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Mg(OH)</a:t>
            </a:r>
            <a:r>
              <a:rPr sz="693" b="0" i="0" baseline="-25000">
                <a:solidFill>
                  <a:srgbClr val="23262B"/>
                </a:solidFill>
                <a:latin typeface="Calibri"/>
              </a:rPr>
              <a:t>2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 →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MgFe</a:t>
            </a:r>
            <a:r>
              <a:rPr sz="693" b="0" i="0" baseline="-25000">
                <a:solidFill>
                  <a:srgbClr val="23262B"/>
                </a:solidFill>
                <a:latin typeface="Calibri"/>
              </a:rPr>
              <a:t>2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O</a:t>
            </a:r>
            <a:r>
              <a:rPr sz="693" b="0" i="0" baseline="-25000">
                <a:solidFill>
                  <a:srgbClr val="23262B"/>
                </a:solidFill>
                <a:latin typeface="Calibri"/>
              </a:rPr>
              <a:t>4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 + 4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H</a:t>
            </a:r>
            <a:r>
              <a:rPr sz="693" b="0" i="0" baseline="-25000">
                <a:solidFill>
                  <a:srgbClr val="23262B"/>
                </a:solidFill>
                <a:latin typeface="Calibri"/>
              </a:rPr>
              <a:t>2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O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; consolidar la espinela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5303520"/>
            <a:ext cx="111556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A5A12"/>
                </a:solidFill>
                <a:latin typeface="Calibri"/>
              </a:rPr>
              <a:t>Reacciones de precipitación: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5596128"/>
            <a:ext cx="111556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3262B"/>
                </a:solidFill>
                <a:latin typeface="Calibri"/>
              </a:rPr>
              <a:t>Fe(NO</a:t>
            </a:r>
            <a:r>
              <a:rPr sz="990" b="0" i="0" baseline="-25000">
                <a:solidFill>
                  <a:srgbClr val="23262B"/>
                </a:solidFill>
                <a:latin typeface="Calibri"/>
              </a:rPr>
              <a:t>3</a:t>
            </a:r>
            <a:r>
              <a:rPr sz="1500" b="0" i="0">
                <a:solidFill>
                  <a:srgbClr val="23262B"/>
                </a:solidFill>
                <a:latin typeface="Calibri"/>
              </a:rPr>
              <a:t>)</a:t>
            </a:r>
            <a:r>
              <a:rPr sz="990" b="0" i="0" baseline="-25000">
                <a:solidFill>
                  <a:srgbClr val="23262B"/>
                </a:solidFill>
                <a:latin typeface="Calibri"/>
              </a:rPr>
              <a:t>3</a:t>
            </a:r>
            <a:r>
              <a:rPr sz="1500" b="0" i="0">
                <a:solidFill>
                  <a:srgbClr val="23262B"/>
                </a:solidFill>
                <a:latin typeface="Calibri"/>
              </a:rPr>
              <a:t> + 3 </a:t>
            </a:r>
            <a:r>
              <a:rPr sz="1500" b="0" i="0">
                <a:solidFill>
                  <a:srgbClr val="23262B"/>
                </a:solidFill>
                <a:latin typeface="Calibri"/>
              </a:rPr>
              <a:t>NH</a:t>
            </a:r>
            <a:r>
              <a:rPr sz="990" b="0" i="0" baseline="-25000">
                <a:solidFill>
                  <a:srgbClr val="23262B"/>
                </a:solidFill>
                <a:latin typeface="Calibri"/>
              </a:rPr>
              <a:t>4</a:t>
            </a:r>
            <a:r>
              <a:rPr sz="1500" b="0" i="0">
                <a:solidFill>
                  <a:srgbClr val="23262B"/>
                </a:solidFill>
                <a:latin typeface="Calibri"/>
              </a:rPr>
              <a:t>OH</a:t>
            </a:r>
            <a:r>
              <a:rPr sz="1500" b="0" i="0">
                <a:solidFill>
                  <a:srgbClr val="23262B"/>
                </a:solidFill>
                <a:latin typeface="Calibri"/>
              </a:rPr>
              <a:t> → </a:t>
            </a:r>
            <a:r>
              <a:rPr sz="1500" b="0" i="0">
                <a:solidFill>
                  <a:srgbClr val="23262B"/>
                </a:solidFill>
                <a:latin typeface="Calibri"/>
              </a:rPr>
              <a:t>Fe(OH)</a:t>
            </a:r>
            <a:r>
              <a:rPr sz="990" b="0" i="0" baseline="-25000">
                <a:solidFill>
                  <a:srgbClr val="23262B"/>
                </a:solidFill>
                <a:latin typeface="Calibri"/>
              </a:rPr>
              <a:t>3</a:t>
            </a:r>
            <a:r>
              <a:rPr sz="1500" b="0" i="0">
                <a:solidFill>
                  <a:srgbClr val="23262B"/>
                </a:solidFill>
                <a:latin typeface="Calibri"/>
              </a:rPr>
              <a:t>↓ + 3 </a:t>
            </a:r>
            <a:r>
              <a:rPr sz="1500" b="0" i="0">
                <a:solidFill>
                  <a:srgbClr val="23262B"/>
                </a:solidFill>
                <a:latin typeface="Calibri"/>
              </a:rPr>
              <a:t>NH</a:t>
            </a:r>
            <a:r>
              <a:rPr sz="990" b="0" i="0" baseline="-25000">
                <a:solidFill>
                  <a:srgbClr val="23262B"/>
                </a:solidFill>
                <a:latin typeface="Calibri"/>
              </a:rPr>
              <a:t>4</a:t>
            </a:r>
            <a:r>
              <a:rPr sz="1500" b="0" i="0">
                <a:solidFill>
                  <a:srgbClr val="23262B"/>
                </a:solidFill>
                <a:latin typeface="Calibri"/>
              </a:rPr>
              <a:t>NO</a:t>
            </a:r>
            <a:r>
              <a:rPr sz="990" b="0" i="0" baseline="-25000">
                <a:solidFill>
                  <a:srgbClr val="23262B"/>
                </a:solidFill>
                <a:latin typeface="Calibri"/>
              </a:rPr>
              <a:t>3</a:t>
            </a:r>
          </a:p>
          <a:p>
            <a:pPr>
              <a:lnSpc>
                <a:spcPct val="135000"/>
              </a:lnSpc>
            </a:pPr>
            <a:r>
              <a:rPr sz="1500">
                <a:solidFill>
                  <a:srgbClr val="23262B"/>
                </a:solidFill>
                <a:latin typeface="Calibri"/>
              </a:rPr>
              <a:t>Mg(NO</a:t>
            </a:r>
            <a:r>
              <a:rPr sz="990" baseline="-25000">
                <a:solidFill>
                  <a:srgbClr val="23262B"/>
                </a:solidFill>
                <a:latin typeface="Calibri"/>
              </a:rPr>
              <a:t>3</a:t>
            </a:r>
            <a:r>
              <a:rPr sz="1500">
                <a:solidFill>
                  <a:srgbClr val="23262B"/>
                </a:solidFill>
                <a:latin typeface="Calibri"/>
              </a:rPr>
              <a:t>)</a:t>
            </a:r>
            <a:r>
              <a:rPr sz="990" baseline="-25000">
                <a:solidFill>
                  <a:srgbClr val="23262B"/>
                </a:solidFill>
                <a:latin typeface="Calibri"/>
              </a:rPr>
              <a:t>2</a:t>
            </a:r>
            <a:r>
              <a:rPr sz="1500">
                <a:solidFill>
                  <a:srgbClr val="23262B"/>
                </a:solidFill>
                <a:latin typeface="Calibri"/>
              </a:rPr>
              <a:t> + 2 </a:t>
            </a:r>
            <a:r>
              <a:rPr sz="1500">
                <a:solidFill>
                  <a:srgbClr val="23262B"/>
                </a:solidFill>
                <a:latin typeface="Calibri"/>
              </a:rPr>
              <a:t>NH</a:t>
            </a:r>
            <a:r>
              <a:rPr sz="990" baseline="-25000">
                <a:solidFill>
                  <a:srgbClr val="23262B"/>
                </a:solidFill>
                <a:latin typeface="Calibri"/>
              </a:rPr>
              <a:t>4</a:t>
            </a:r>
            <a:r>
              <a:rPr sz="1500">
                <a:solidFill>
                  <a:srgbClr val="23262B"/>
                </a:solidFill>
                <a:latin typeface="Calibri"/>
              </a:rPr>
              <a:t>OH</a:t>
            </a:r>
            <a:r>
              <a:rPr sz="1500">
                <a:solidFill>
                  <a:srgbClr val="23262B"/>
                </a:solidFill>
                <a:latin typeface="Calibri"/>
              </a:rPr>
              <a:t> → </a:t>
            </a:r>
            <a:r>
              <a:rPr sz="1500">
                <a:solidFill>
                  <a:srgbClr val="23262B"/>
                </a:solidFill>
                <a:latin typeface="Calibri"/>
              </a:rPr>
              <a:t>Mg(OH)</a:t>
            </a:r>
            <a:r>
              <a:rPr sz="990" baseline="-25000">
                <a:solidFill>
                  <a:srgbClr val="23262B"/>
                </a:solidFill>
                <a:latin typeface="Calibri"/>
              </a:rPr>
              <a:t>2</a:t>
            </a:r>
            <a:r>
              <a:rPr sz="1500">
                <a:solidFill>
                  <a:srgbClr val="23262B"/>
                </a:solidFill>
                <a:latin typeface="Calibri"/>
              </a:rPr>
              <a:t>↓ + 2 </a:t>
            </a:r>
            <a:r>
              <a:rPr sz="1500">
                <a:solidFill>
                  <a:srgbClr val="23262B"/>
                </a:solidFill>
                <a:latin typeface="Calibri"/>
              </a:rPr>
              <a:t>NH</a:t>
            </a:r>
            <a:r>
              <a:rPr sz="990" baseline="-25000">
                <a:solidFill>
                  <a:srgbClr val="23262B"/>
                </a:solidFill>
                <a:latin typeface="Calibri"/>
              </a:rPr>
              <a:t>4</a:t>
            </a:r>
            <a:r>
              <a:rPr sz="1500">
                <a:solidFill>
                  <a:srgbClr val="23262B"/>
                </a:solidFill>
                <a:latin typeface="Calibri"/>
              </a:rPr>
              <a:t>NO</a:t>
            </a:r>
            <a:r>
              <a:rPr sz="990" baseline="-25000">
                <a:solidFill>
                  <a:srgbClr val="23262B"/>
                </a:solidFill>
                <a:latin typeface="Calibri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5A52"/>
                </a:solidFill>
                <a:latin typeface="Calibri"/>
              </a:rPr>
              <a:t>Avances 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 — UNAL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601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5A12"/>
                </a:solidFill>
                <a:latin typeface="Calibri"/>
              </a:rPr>
              <a:t>RESULTADOS — DRX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1037844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3262B"/>
                </a:solidFill>
                <a:latin typeface="Georgia"/>
              </a:rPr>
              <a:t>Dos fases: hematita dominante + espinela minoritaria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11480"/>
            <a:ext cx="54864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5F5A52"/>
                </a:solidFill>
                <a:latin typeface="Calibr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1183112" cy="10972"/>
          </a:xfrm>
          <a:prstGeom prst="rect">
            <a:avLst/>
          </a:prstGeom>
          <a:solidFill>
            <a:srgbClr val="DCD2C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8056" y="1362456"/>
            <a:ext cx="5296363" cy="4133088"/>
          </a:xfrm>
          <a:prstGeom prst="rect">
            <a:avLst/>
          </a:prstGeom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xrd_easydiffr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5186635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623560"/>
            <a:ext cx="5294376" cy="5943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F5A52"/>
                </a:solidFill>
                <a:latin typeface="Calibri"/>
              </a:rPr>
              <a:t>Ajuste Rietveld con EasyDiffraction 0.21.1 (perfil TCH, doblete </a:t>
            </a:r>
            <a:r>
              <a:rPr sz="1150" b="0" i="0">
                <a:solidFill>
                  <a:srgbClr val="5F5A52"/>
                </a:solidFill>
                <a:latin typeface="Calibri"/>
              </a:rPr>
              <a:t>Kα</a:t>
            </a:r>
            <a:r>
              <a:rPr sz="759" b="0" i="0" baseline="-25000">
                <a:solidFill>
                  <a:srgbClr val="5F5A52"/>
                </a:solidFill>
                <a:latin typeface="Calibri"/>
              </a:rPr>
              <a:t>1</a:t>
            </a:r>
            <a:r>
              <a:rPr sz="1150" b="0" i="0">
                <a:solidFill>
                  <a:srgbClr val="5F5A52"/>
                </a:solidFill>
                <a:latin typeface="Calibri"/>
              </a:rPr>
              <a:t>/</a:t>
            </a:r>
            <a:r>
              <a:rPr sz="1150" b="0" i="0">
                <a:solidFill>
                  <a:srgbClr val="5F5A52"/>
                </a:solidFill>
                <a:latin typeface="Calibri"/>
              </a:rPr>
              <a:t>Kα</a:t>
            </a:r>
            <a:r>
              <a:rPr sz="759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150" b="0" i="0">
                <a:solidFill>
                  <a:srgbClr val="5F5A52"/>
                </a:solidFill>
                <a:latin typeface="Calibri"/>
              </a:rPr>
              <a:t>, fondo Chebyshev): observado / calculado / diferencia.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1417320"/>
            <a:ext cx="4206240" cy="960120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52360" y="1417320"/>
            <a:ext cx="64008" cy="960120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1527048"/>
            <a:ext cx="3886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F5A52"/>
                </a:solidFill>
                <a:latin typeface="Calibri"/>
              </a:rPr>
              <a:t>FASE MAYORITARIA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53528" y="1801368"/>
            <a:ext cx="38862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3262B"/>
                </a:solidFill>
                <a:latin typeface="Georgia"/>
              </a:rPr>
              <a:t>Hematita α-</a:t>
            </a:r>
            <a:r>
              <a:rPr sz="2600" b="1" i="0">
                <a:solidFill>
                  <a:srgbClr val="23262B"/>
                </a:solidFill>
                <a:latin typeface="Georgia"/>
              </a:rPr>
              <a:t>Fe</a:t>
            </a:r>
            <a:r>
              <a:rPr sz="1716" b="1" i="0" baseline="-25000">
                <a:solidFill>
                  <a:srgbClr val="23262B"/>
                </a:solidFill>
                <a:latin typeface="Georgia"/>
              </a:rPr>
              <a:t>2</a:t>
            </a:r>
            <a:r>
              <a:rPr sz="2600" b="1" i="0">
                <a:solidFill>
                  <a:srgbClr val="23262B"/>
                </a:solidFill>
                <a:latin typeface="Georgia"/>
              </a:rPr>
              <a:t>O</a:t>
            </a:r>
            <a:r>
              <a:rPr sz="1716" b="1" i="0" baseline="-25000">
                <a:solidFill>
                  <a:srgbClr val="23262B"/>
                </a:solidFill>
                <a:latin typeface="Georgia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2514600"/>
            <a:ext cx="4206240" cy="960120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360" y="2514600"/>
            <a:ext cx="64008" cy="960120"/>
          </a:xfrm>
          <a:prstGeom prst="rect">
            <a:avLst/>
          </a:prstGeom>
          <a:solidFill>
            <a:srgbClr val="2F6390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2624328"/>
            <a:ext cx="3886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F5A52"/>
                </a:solidFill>
                <a:latin typeface="Calibri"/>
              </a:rPr>
              <a:t>FASE MINORITARIA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3528" y="2898648"/>
            <a:ext cx="38862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3262B"/>
                </a:solidFill>
                <a:latin typeface="Georgia"/>
              </a:rPr>
              <a:t>Espinela </a:t>
            </a:r>
            <a:r>
              <a:rPr sz="2600" b="1" i="0">
                <a:solidFill>
                  <a:srgbClr val="23262B"/>
                </a:solidFill>
                <a:latin typeface="Georgia"/>
              </a:rPr>
              <a:t>MgFe</a:t>
            </a:r>
            <a:r>
              <a:rPr sz="1716" b="1" i="0" baseline="-25000">
                <a:solidFill>
                  <a:srgbClr val="23262B"/>
                </a:solidFill>
                <a:latin typeface="Georgia"/>
              </a:rPr>
              <a:t>2</a:t>
            </a:r>
            <a:r>
              <a:rPr sz="2600" b="1" i="0">
                <a:solidFill>
                  <a:srgbClr val="23262B"/>
                </a:solidFill>
                <a:latin typeface="Georgia"/>
              </a:rPr>
              <a:t>O</a:t>
            </a:r>
            <a:r>
              <a:rPr sz="1716" b="1" i="0" baseline="-25000">
                <a:solidFill>
                  <a:srgbClr val="23262B"/>
                </a:solidFill>
                <a:latin typeface="Georgi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3657600"/>
            <a:ext cx="4251960" cy="23774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 i="0">
                <a:solidFill>
                  <a:srgbClr val="23262B"/>
                </a:solidFill>
                <a:latin typeface="Calibri"/>
              </a:rPr>
              <a:t>Picos diagnósticos: 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5F5A52"/>
                </a:solidFill>
                <a:latin typeface="Calibri"/>
              </a:rPr>
              <a:t>hematita 104 en 33.2°; espinela 220/400 en 30.1°/43.2°. No se detectó MgO ni </a:t>
            </a:r>
            <a:r>
              <a:rPr sz="1300" b="0" i="0">
                <a:solidFill>
                  <a:srgbClr val="5F5A52"/>
                </a:solidFill>
                <a:latin typeface="Calibri"/>
              </a:rPr>
              <a:t>Mg(OH)</a:t>
            </a:r>
            <a:r>
              <a:rPr sz="858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300" b="0" i="0">
                <a:solidFill>
                  <a:srgbClr val="5F5A52"/>
                </a:solidFill>
                <a:latin typeface="Calibri"/>
              </a:rPr>
              <a:t>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 i="0">
                <a:solidFill>
                  <a:srgbClr val="23262B"/>
                </a:solidFill>
                <a:latin typeface="Calibri"/>
              </a:rPr>
              <a:t>CIF seleccionados por criba cuantitativa: 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5F5A52"/>
                </a:solidFill>
                <a:latin typeface="Calibri"/>
              </a:rPr>
              <a:t>9015964.cif (R-3c) y 9001446.cif (Fd-3m).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5A52"/>
                </a:solidFill>
                <a:latin typeface="Calibri"/>
              </a:rPr>
              <a:t>Avances 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 — UNAL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601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5A12"/>
                </a:solidFill>
                <a:latin typeface="Calibri"/>
              </a:rPr>
              <a:t>RESULTADOS — DRX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1037844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3262B"/>
                </a:solidFill>
                <a:latin typeface="Georgia"/>
              </a:rPr>
              <a:t>Cuantificación (EasyDiffraction) y validación cruzada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11480"/>
            <a:ext cx="54864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5F5A52"/>
                </a:solidFill>
                <a:latin typeface="Calibr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1183112" cy="10972"/>
          </a:xfrm>
          <a:prstGeom prst="rect">
            <a:avLst/>
          </a:prstGeom>
          <a:solidFill>
            <a:srgbClr val="DCD2C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63040"/>
          <a:ext cx="6949440" cy="448056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  <a:gridCol w="1828800"/>
              </a:tblGrid>
              <a:tr h="448056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Cantidad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A843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XRD1 (400 °C)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A843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XRD2 (600 °C)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A8432B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A8432B"/>
                          </a:solidFill>
                          <a:latin typeface="Calibri"/>
                        </a:rPr>
                        <a:t>Hematita (% peso)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A8432B"/>
                          </a:solidFill>
                          <a:latin typeface="Calibri"/>
                        </a:rPr>
                        <a:t>72.9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A8432B"/>
                          </a:solidFill>
                          <a:latin typeface="Calibri"/>
                        </a:rPr>
                        <a:t>75.3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6390"/>
                          </a:solidFill>
                          <a:latin typeface="Calibri"/>
                        </a:rPr>
                        <a:t>Espinela </a:t>
                      </a:r>
                      <a:r>
                        <a:rPr sz="1250" b="1">
                          <a:solidFill>
                            <a:srgbClr val="2F6390"/>
                          </a:solidFill>
                          <a:latin typeface="Calibri"/>
                        </a:rPr>
                        <a:t>MgFe</a:t>
                      </a:r>
                      <a:r>
                        <a:rPr sz="825" b="1" baseline="-25000">
                          <a:solidFill>
                            <a:srgbClr val="2F6390"/>
                          </a:solidFill>
                          <a:latin typeface="Calibri"/>
                        </a:rPr>
                        <a:t>2</a:t>
                      </a:r>
                      <a:r>
                        <a:rPr sz="1250" b="1">
                          <a:solidFill>
                            <a:srgbClr val="2F6390"/>
                          </a:solidFill>
                          <a:latin typeface="Calibri"/>
                        </a:rPr>
                        <a:t>O</a:t>
                      </a:r>
                      <a:r>
                        <a:rPr sz="825" b="1" baseline="-25000">
                          <a:solidFill>
                            <a:srgbClr val="2F6390"/>
                          </a:solidFill>
                          <a:latin typeface="Calibri"/>
                        </a:rPr>
                        <a:t>4</a:t>
                      </a:r>
                      <a:r>
                        <a:rPr sz="1250" b="1">
                          <a:solidFill>
                            <a:srgbClr val="2F6390"/>
                          </a:solidFill>
                          <a:latin typeface="Calibri"/>
                        </a:rPr>
                        <a:t> (% peso)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F6390"/>
                          </a:solidFill>
                          <a:latin typeface="Calibri"/>
                        </a:rPr>
                        <a:t>27.1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F6390"/>
                          </a:solidFill>
                          <a:latin typeface="Calibri"/>
                        </a:rPr>
                        <a:t>24.7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3262B"/>
                          </a:solidFill>
                          <a:latin typeface="Calibri"/>
                        </a:rPr>
                        <a:t>Rwp / χ² (EasyDiffraction)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3.92 % / 5.17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5.27 % / 8.45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3262B"/>
                          </a:solidFill>
                          <a:latin typeface="Calibri"/>
                        </a:rPr>
                        <a:t>Rwp (modelo in-house)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1.08 %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1.30 %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250" b="1" i="1">
                          <a:solidFill>
                            <a:srgbClr val="23262B"/>
                          </a:solidFill>
                          <a:latin typeface="Calibri"/>
                        </a:rPr>
                        <a:t>a</a:t>
                      </a:r>
                      <a:r>
                        <a:rPr sz="1250" b="1" i="0">
                          <a:solidFill>
                            <a:srgbClr val="23262B"/>
                          </a:solidFill>
                          <a:latin typeface="Calibri"/>
                        </a:rPr>
                        <a:t> hematita (Å)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5.0501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5.0420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250" b="1" i="1">
                          <a:solidFill>
                            <a:srgbClr val="23262B"/>
                          </a:solidFill>
                          <a:latin typeface="Calibri"/>
                        </a:rPr>
                        <a:t>a</a:t>
                      </a:r>
                      <a:r>
                        <a:rPr sz="1250" b="1" i="0">
                          <a:solidFill>
                            <a:srgbClr val="23262B"/>
                          </a:solidFill>
                          <a:latin typeface="Calibri"/>
                        </a:rPr>
                        <a:t> espinela (Å)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8.3979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8.3906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3262B"/>
                          </a:solidFill>
                          <a:latin typeface="Calibri"/>
                        </a:rPr>
                        <a:t>FWHM global (°)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0.474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0.275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3262B"/>
                          </a:solidFill>
                          <a:latin typeface="Calibri"/>
                        </a:rPr>
                        <a:t>D Scherrer (nm)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18.2 ± 0.9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28.7 ± 1.6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3262B"/>
                          </a:solidFill>
                          <a:latin typeface="Calibri"/>
                        </a:rPr>
                        <a:t>W–H: D (nm) / ε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21 ± 5 / 0.0006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76 ± 30 / 0.0019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0" y="1463040"/>
            <a:ext cx="3931920" cy="47548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 i="0">
                <a:solidFill>
                  <a:srgbClr val="8A5A12"/>
                </a:solidFill>
                <a:latin typeface="Calibri"/>
              </a:rPr>
              <a:t>¿Por qué se privilegia EasyDiffraction?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0" i="0">
                <a:solidFill>
                  <a:srgbClr val="23262B"/>
                </a:solidFill>
                <a:latin typeface="Calibri"/>
              </a:rPr>
              <a:t>Es un motor Rietveld completo (TCH U/V/W, </a:t>
            </a:r>
            <a:r>
              <a:rPr sz="1500" b="0" i="0">
                <a:solidFill>
                  <a:srgbClr val="23262B"/>
                </a:solidFill>
                <a:latin typeface="Calibri"/>
              </a:rPr>
              <a:t>Kα</a:t>
            </a:r>
            <a:r>
              <a:rPr sz="990" b="0" i="0" baseline="-25000">
                <a:solidFill>
                  <a:srgbClr val="23262B"/>
                </a:solidFill>
                <a:latin typeface="Calibri"/>
              </a:rPr>
              <a:t>2</a:t>
            </a:r>
            <a:r>
              <a:rPr sz="1500" b="0" i="0">
                <a:solidFill>
                  <a:srgbClr val="23262B"/>
                </a:solidFill>
                <a:latin typeface="Calibri"/>
              </a:rPr>
              <a:t>, pesos √y). Las fracciones en peso usan el factor estándar de Hill–Howard W ~ S·Z·M·V.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 b="1" i="0">
                <a:solidFill>
                  <a:srgbClr val="23262B"/>
                </a:solidFill>
                <a:latin typeface="Calibri"/>
              </a:rPr>
              <a:t>Validación cruzada: </a:t>
            </a:r>
            <a:r>
              <a:rPr sz="1300" b="0" i="0">
                <a:solidFill>
                  <a:srgbClr val="5F5A52"/>
                </a:solidFill>
                <a:latin typeface="Calibri"/>
              </a:rPr>
              <a:t>el modelo in-house (pseudo-Voigt, un FWHM) reproduce las mismas fases y celdas (Δa &lt; 0.02 Å) con Rwp = 1.1–1.3 %.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 b="1" i="0">
                <a:solidFill>
                  <a:srgbClr val="23262B"/>
                </a:solidFill>
                <a:latin typeface="Calibri"/>
              </a:rPr>
              <a:t>Lectura: </a:t>
            </a:r>
            <a:r>
              <a:rPr sz="1300" b="0" i="0">
                <a:solidFill>
                  <a:srgbClr val="5F5A52"/>
                </a:solidFill>
                <a:latin typeface="Calibri"/>
              </a:rPr>
              <a:t>la recalc a 600 °C no cambia la fracción de fases, pero duplica la cristalinidad (FWHM se reduce a la mitad; D: 18 → 29 nm).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5A52"/>
                </a:solidFill>
                <a:latin typeface="Calibri"/>
              </a:rPr>
              <a:t>Avances 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 — UNAL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601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5A12"/>
                </a:solidFill>
                <a:latin typeface="Calibri"/>
              </a:rPr>
              <a:t>RESULTADOS — DRX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1037844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3262B"/>
                </a:solidFill>
                <a:latin typeface="Georgia"/>
              </a:rPr>
              <a:t>Tamaño de cristalito: Scherrer y Williamson–Hall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11480"/>
            <a:ext cx="54864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5F5A52"/>
                </a:solidFill>
                <a:latin typeface="Calibri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1183112" cy="10972"/>
          </a:xfrm>
          <a:prstGeom prst="rect">
            <a:avLst/>
          </a:prstGeom>
          <a:solidFill>
            <a:srgbClr val="DCD2C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8056" y="1408176"/>
            <a:ext cx="7059168" cy="2719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xrd_siz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63040"/>
            <a:ext cx="6949440" cy="2609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4279392"/>
            <a:ext cx="6949440" cy="7772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F5A52"/>
                </a:solidFill>
                <a:latin typeface="Calibri"/>
              </a:rPr>
              <a:t>Scherrer: D = 0.9λ/(β cos θ), con β corregido por el ancho instrumental (0.05°). W–H: βcosθ = Kλ/D + 4ε sinθ — al graficar vs 4senθ/λ, el intercepto da D y la pendiente ελ.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1463040"/>
            <a:ext cx="3886200" cy="1170432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1463040"/>
            <a:ext cx="64008" cy="1170432"/>
          </a:xfrm>
          <a:prstGeom prst="rect">
            <a:avLst/>
          </a:prstGeom>
          <a:solidFill>
            <a:srgbClr val="2F6390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1581912"/>
            <a:ext cx="356616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F5A52"/>
                </a:solidFill>
                <a:latin typeface="Calibri"/>
              </a:rPr>
              <a:t>D SCHERRER 400 °C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1847088"/>
            <a:ext cx="3611880" cy="566928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3262B"/>
                </a:solidFill>
                <a:latin typeface="Georgia"/>
              </a:rPr>
              <a:t>18.2 ± 0.9 nm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2834640"/>
            <a:ext cx="3886200" cy="1170432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2834640"/>
            <a:ext cx="64008" cy="1170432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73568" y="2953512"/>
            <a:ext cx="356616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F5A52"/>
                </a:solidFill>
                <a:latin typeface="Calibri"/>
              </a:rPr>
              <a:t>D SCHERRER 600 °C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3218688"/>
            <a:ext cx="3611880" cy="566928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3262B"/>
                </a:solidFill>
                <a:latin typeface="Georgia"/>
              </a:rPr>
              <a:t>28.7 ± 1.6 nm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4206240"/>
            <a:ext cx="3886200" cy="1170432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4206240"/>
            <a:ext cx="64008" cy="1170432"/>
          </a:xfrm>
          <a:prstGeom prst="rect">
            <a:avLst/>
          </a:prstGeom>
          <a:solidFill>
            <a:srgbClr val="B07E2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73568" y="4325112"/>
            <a:ext cx="356616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F5A52"/>
                </a:solidFill>
                <a:latin typeface="Calibri"/>
              </a:rPr>
              <a:t>ε (W–H, 600 °C)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4590288"/>
            <a:ext cx="3611880" cy="566928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3262B"/>
                </a:solidFill>
                <a:latin typeface="Georgia"/>
              </a:rPr>
              <a:t>0.0019 ± 0.0004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138928"/>
            <a:ext cx="6949440" cy="7315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F5A52"/>
                </a:solidFill>
                <a:latin typeface="Calibri"/>
              </a:rPr>
              <a:t>A 400 °C la deformación no es resoluble (ε compatible con 0): el ensanchamiento es por tamaño.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5A52"/>
                </a:solidFill>
                <a:latin typeface="Calibri"/>
              </a:rPr>
              <a:t>Avances 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 — UNAL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601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5A12"/>
                </a:solidFill>
                <a:latin typeface="Calibri"/>
              </a:rPr>
              <a:t>RESULTADOS — SEM/EDS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1037844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3262B"/>
                </a:solidFill>
                <a:latin typeface="Georgia"/>
              </a:rPr>
              <a:t>Grano ~141 nm (aglomerados) y EDS con Mg subestimado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11480"/>
            <a:ext cx="54864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5F5A52"/>
                </a:solidFill>
                <a:latin typeface="Calibri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1183112" cy="10972"/>
          </a:xfrm>
          <a:prstGeom prst="rect">
            <a:avLst/>
          </a:prstGeom>
          <a:solidFill>
            <a:srgbClr val="DCD2C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8056" y="1408176"/>
            <a:ext cx="7059168" cy="2717361"/>
          </a:xfrm>
          <a:prstGeom prst="rect">
            <a:avLst/>
          </a:prstGeom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sem_grain_distrib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463040"/>
            <a:ext cx="6949440" cy="260763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4370832"/>
            <a:ext cx="694944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8A5A12"/>
                </a:solidFill>
                <a:latin typeface="Calibri"/>
              </a:rPr>
              <a:t>CÓMO SE MIDIÓ EL GRANO (pipeline, sem_grain_analysis.ipynb)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663440"/>
            <a:ext cx="6949440" cy="16002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150" b="0" i="0">
                <a:solidFill>
                  <a:srgbClr val="5F5A52"/>
                </a:solidFill>
                <a:latin typeface="Calibri"/>
              </a:rPr>
              <a:t>1) Recorte de la barra de info (60 px) · 2) Gaussiana σ=2 px · 3) Umbral de Otsu + morfología (cierre 5×5 / apertura 3×3) · 4) Transformada de distancia + máximos locales → watershed que separa granos tocándose · 5) Diámetro circular equivalente d = 2√(A/π) por región (d &gt; 5 px) × tamaño de píxel (13.51 nm/px a 20k×, 7.51 nm/px a 36k×, de los metadatos).</a:t>
            </a:r>
          </a:p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150" b="0" i="0">
                <a:solidFill>
                  <a:srgbClr val="5F5A52"/>
                </a:solidFill>
                <a:latin typeface="Calibri"/>
              </a:rPr>
              <a:t>Distribución lognormal, N = 936 granos (20k× + 36k×). Grano SEM muy superior al cristalito DRX (≈18–29 nm): cada grano es un aglomerado policristalino (~5–7 cristalitos).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463040"/>
            <a:ext cx="3886200" cy="1051560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1463040"/>
            <a:ext cx="64008" cy="1051560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73568" y="1572768"/>
            <a:ext cx="356616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F5A52"/>
                </a:solidFill>
                <a:latin typeface="Calibri"/>
              </a:rPr>
              <a:t>TAMAÑO DE GRANO (MEDIA)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3568" y="1847088"/>
            <a:ext cx="3566160" cy="5943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3262B"/>
                </a:solidFill>
                <a:latin typeface="Georgia"/>
              </a:rPr>
              <a:t>141 ± 2.4 nm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2651760"/>
            <a:ext cx="3886200" cy="1051560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2651760"/>
            <a:ext cx="64008" cy="1051560"/>
          </a:xfrm>
          <a:prstGeom prst="rect">
            <a:avLst/>
          </a:prstGeom>
          <a:solidFill>
            <a:srgbClr val="2F6390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73568" y="2761488"/>
            <a:ext cx="356616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F5A52"/>
                </a:solidFill>
                <a:latin typeface="Calibri"/>
              </a:rPr>
              <a:t>MEDIANA / D10–D90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035808"/>
            <a:ext cx="3566160" cy="5943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23262B"/>
                </a:solidFill>
                <a:latin typeface="Georgia"/>
              </a:rPr>
              <a:t>132 / 73–246 nm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17536" y="3831336"/>
            <a:ext cx="3995928" cy="1496637"/>
          </a:xfrm>
          <a:prstGeom prst="rect">
            <a:avLst/>
          </a:prstGeom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sem_e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3886200"/>
            <a:ext cx="3886200" cy="138690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0" y="5486400"/>
            <a:ext cx="3931920" cy="7772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F5A52"/>
                </a:solidFill>
                <a:latin typeface="Calibri"/>
              </a:rPr>
              <a:t>EDS (C-free): Fe 63.0 %, O 36.1 %, Mg 0.9 % → Fe:Mg ≈ 69:1 vs 4.6:1 estequiométrico (Mg Kα a 1.25 keV, cerca del límite de detección).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5A52"/>
                </a:solidFill>
                <a:latin typeface="Calibri"/>
              </a:rPr>
              <a:t>Avances 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 — UNAL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601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5A12"/>
                </a:solidFill>
                <a:latin typeface="Calibri"/>
              </a:rPr>
              <a:t>RESULTADOS — UV-VIS-NIR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1037844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3262B"/>
                </a:solidFill>
                <a:latin typeface="Georgia"/>
              </a:rPr>
              <a:t>Tauc con dos líneas: dos fases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11480"/>
            <a:ext cx="54864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5F5A52"/>
                </a:solidFill>
                <a:latin typeface="Calibri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1183112" cy="10972"/>
          </a:xfrm>
          <a:prstGeom prst="rect">
            <a:avLst/>
          </a:prstGeom>
          <a:solidFill>
            <a:srgbClr val="DCD2C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8056" y="1362456"/>
            <a:ext cx="7699248" cy="2283625"/>
          </a:xfrm>
          <a:prstGeom prst="rect">
            <a:avLst/>
          </a:prstGeom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uvvis_t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7320"/>
            <a:ext cx="7589520" cy="21738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66760" y="1417320"/>
            <a:ext cx="3337560" cy="25146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32000"/>
              </a:lnSpc>
            </a:pPr>
            <a:r>
              <a:rPr sz="1250" b="1" i="0">
                <a:solidFill>
                  <a:srgbClr val="23262B"/>
                </a:solidFill>
                <a:latin typeface="Calibri"/>
              </a:rPr>
              <a:t>Kubelka–Munk: </a:t>
            </a:r>
            <a:r>
              <a:rPr sz="1250" b="0" i="0">
                <a:solidFill>
                  <a:srgbClr val="5F5A52"/>
                </a:solidFill>
                <a:latin typeface="Calibri"/>
              </a:rPr>
              <a:t>F(R) = (1−R)²/2R. La derivada d[F(R)]/dE muestra onsets en 1.56 y 1.62 eV (~770–795 nm). R ≈ 6.5 % en el visible (pigmento café-rojizo oscuro) y meseta NIR R ≈ 0.37.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60520"/>
            <a:ext cx="3419856" cy="1325880"/>
          </a:xfrm>
          <a:prstGeom prst="rect"/>
          <a:solidFill>
            <a:srgbClr val="FFFFFF"/>
          </a:solidFill>
          <a:ln w="9525">
            <a:solidFill>
              <a:srgbClr val="2F6390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315968"/>
            <a:ext cx="3145536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F6390"/>
                </a:solidFill>
                <a:latin typeface="Calibri"/>
              </a:rPr>
              <a:t>LÍNEA 1 — ESPINELA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44568"/>
            <a:ext cx="3145536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23262B"/>
                </a:solidFill>
                <a:latin typeface="Georgia"/>
              </a:rPr>
              <a:t>Eg ≈ 1.63 ± 0.02 eV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20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792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2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792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200" b="0" i="0">
                <a:solidFill>
                  <a:srgbClr val="5F5A52"/>
                </a:solidFill>
                <a:latin typeface="Calibri"/>
              </a:rPr>
              <a:t> (n = 1/2)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87368" y="4160520"/>
            <a:ext cx="3419856" cy="1325880"/>
          </a:xfrm>
          <a:prstGeom prst="rect"/>
          <a:solidFill>
            <a:srgbClr val="FFFFFF"/>
          </a:solidFill>
          <a:ln w="9525">
            <a:solidFill>
              <a:srgbClr val="A8432B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24528" y="4315968"/>
            <a:ext cx="3145536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A8432B"/>
                </a:solidFill>
                <a:latin typeface="Calibri"/>
              </a:rPr>
              <a:t>LÍNEA 2 — HEMATITA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4544568"/>
            <a:ext cx="3145536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23262B"/>
                </a:solidFill>
                <a:latin typeface="Georgia"/>
              </a:rPr>
              <a:t>Eg ≈ 2.00 ± 0.03 eV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200" b="0" i="0">
                <a:solidFill>
                  <a:srgbClr val="5F5A52"/>
                </a:solidFill>
                <a:latin typeface="Calibri"/>
              </a:rPr>
              <a:t>α-</a:t>
            </a:r>
            <a:r>
              <a:rPr sz="1200" b="0" i="0">
                <a:solidFill>
                  <a:srgbClr val="5F5A52"/>
                </a:solidFill>
                <a:latin typeface="Calibri"/>
              </a:rPr>
              <a:t>Fe</a:t>
            </a:r>
            <a:r>
              <a:rPr sz="792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2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792" b="0" i="0" baseline="-25000">
                <a:solidFill>
                  <a:srgbClr val="5F5A52"/>
                </a:solidFill>
                <a:latin typeface="Calibri"/>
              </a:rPr>
              <a:t>3</a:t>
            </a:r>
            <a:r>
              <a:rPr sz="1200" b="0" i="0">
                <a:solidFill>
                  <a:srgbClr val="5F5A52"/>
                </a:solidFill>
                <a:latin typeface="Calibri"/>
              </a:rPr>
              <a:t> (n = 2), fase dominante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160520"/>
            <a:ext cx="3337560" cy="17830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F5A52"/>
                </a:solidFill>
                <a:latin typeface="Calibri"/>
              </a:rPr>
              <a:t>Las dos rectas del Tauc corresponden a las dos fases del Rietveld, no a dos exponentes de un mismo borde. Valores de literatura: hematita 2.0–2.2 eV; </a:t>
            </a:r>
            <a:r>
              <a:rPr sz="125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825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250" b="0" i="0">
                <a:solidFill>
                  <a:srgbClr val="5F5A52"/>
                </a:solidFill>
                <a:latin typeface="Calibri"/>
              </a:rPr>
              <a:t>O</a:t>
            </a:r>
            <a:r>
              <a:rPr sz="825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250" b="0" i="0">
                <a:solidFill>
                  <a:srgbClr val="5F5A52"/>
                </a:solidFill>
                <a:latin typeface="Calibri"/>
              </a:rPr>
              <a:t> 1.6–1.9 eV.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5A52"/>
                </a:solidFill>
                <a:latin typeface="Calibri"/>
              </a:rPr>
              <a:t>Avances 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 — UNAL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601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5A12"/>
                </a:solidFill>
                <a:latin typeface="Calibr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1037844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3262B"/>
                </a:solidFill>
                <a:latin typeface="Georgia"/>
              </a:rPr>
              <a:t>Conclusiones y próximos pasos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11480"/>
            <a:ext cx="54864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5F5A52"/>
                </a:solidFill>
                <a:latin typeface="Calibri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1183112" cy="10972"/>
          </a:xfrm>
          <a:prstGeom prst="rect">
            <a:avLst/>
          </a:prstGeom>
          <a:solidFill>
            <a:srgbClr val="DCD2C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81328"/>
            <a:ext cx="5486400" cy="3986784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19072"/>
            <a:ext cx="502920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A8432B"/>
                </a:solidFill>
                <a:latin typeface="Calibri"/>
              </a:rPr>
              <a:t>CONCLUSIONES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5029200" cy="3218688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 marL="201168" indent="-201168">
              <a:lnSpc>
                <a:spcPct val="126000"/>
              </a:lnSpc>
              <a:spcAft>
                <a:spcPts val="1200"/>
              </a:spcAft>
            </a:pPr>
            <a:r>
              <a:rPr sz="1400" b="1" i="0">
                <a:solidFill>
                  <a:srgbClr val="A8432B"/>
                </a:solidFill>
                <a:latin typeface="Calibri"/>
              </a:rPr>
              <a:t>• </a:t>
            </a:r>
            <a:r>
              <a:rPr sz="1400" b="0" i="0">
                <a:solidFill>
                  <a:srgbClr val="23262B"/>
                </a:solidFill>
                <a:latin typeface="Calibri"/>
              </a:rPr>
              <a:t>La muestra NO es espinela pura: mezcla ≈ 73–75 % hematita + ≈ 25–27 % espinela (EasyDiffraction, χ² = 5.2–8.4).</a:t>
            </a:r>
          </a:p>
          <a:p>
            <a:pPr algn="l" marL="201168" indent="-201168">
              <a:lnSpc>
                <a:spcPct val="126000"/>
              </a:lnSpc>
              <a:spcAft>
                <a:spcPts val="1200"/>
              </a:spcAft>
            </a:pPr>
            <a:r>
              <a:rPr sz="1400" b="1" i="0">
                <a:solidFill>
                  <a:srgbClr val="A8432B"/>
                </a:solidFill>
                <a:latin typeface="Calibri"/>
              </a:rPr>
              <a:t>• </a:t>
            </a:r>
            <a:r>
              <a:rPr sz="1400" b="0" i="0">
                <a:solidFill>
                  <a:srgbClr val="23262B"/>
                </a:solidFill>
                <a:latin typeface="Calibri"/>
              </a:rPr>
              <a:t>Recalcinación a 600 °C: misma fracción de fases, pero FWHM 0.474° → 0.275° y cristalitos 18 → 29 nm (mayor cristalinidad).</a:t>
            </a:r>
          </a:p>
          <a:p>
            <a:pPr algn="l" marL="201168" indent="-201168">
              <a:lnSpc>
                <a:spcPct val="126000"/>
              </a:lnSpc>
              <a:spcAft>
                <a:spcPts val="1200"/>
              </a:spcAft>
            </a:pPr>
            <a:r>
              <a:rPr sz="1400" b="1" i="0">
                <a:solidFill>
                  <a:srgbClr val="A8432B"/>
                </a:solidFill>
                <a:latin typeface="Calibri"/>
              </a:rPr>
              <a:t>• </a:t>
            </a:r>
            <a:r>
              <a:rPr sz="1400" b="0" i="0">
                <a:solidFill>
                  <a:srgbClr val="23262B"/>
                </a:solidFill>
                <a:latin typeface="Calibri"/>
              </a:rPr>
              <a:t>Tauc con dos líneas = dos fases: espinela ≈ 1.6 eV, hematita ≈ 2.0 eV.</a:t>
            </a:r>
          </a:p>
          <a:p>
            <a:pPr algn="l" marL="201168" indent="-201168">
              <a:lnSpc>
                <a:spcPct val="126000"/>
              </a:lnSpc>
              <a:spcAft>
                <a:spcPts val="1200"/>
              </a:spcAft>
            </a:pPr>
            <a:r>
              <a:rPr sz="1400" b="1" i="0">
                <a:solidFill>
                  <a:srgbClr val="A8432B"/>
                </a:solidFill>
                <a:latin typeface="Calibri"/>
              </a:rPr>
              <a:t>• </a:t>
            </a:r>
            <a:r>
              <a:rPr sz="1400" b="0" i="0">
                <a:solidFill>
                  <a:srgbClr val="23262B"/>
                </a:solidFill>
                <a:latin typeface="Calibri"/>
              </a:rPr>
              <a:t>Granos SEM 141 ± 2.4 nm = aglomerados de ~5–7 cristalitos DRX.</a:t>
            </a:r>
          </a:p>
          <a:p>
            <a:pPr algn="l" marL="201168" indent="-201168">
              <a:lnSpc>
                <a:spcPct val="126000"/>
              </a:lnSpc>
              <a:spcAft>
                <a:spcPts val="1200"/>
              </a:spcAft>
            </a:pPr>
            <a:r>
              <a:rPr sz="1400" b="1" i="0">
                <a:solidFill>
                  <a:srgbClr val="A8432B"/>
                </a:solidFill>
                <a:latin typeface="Calibri"/>
              </a:rPr>
              <a:t>• </a:t>
            </a:r>
            <a:r>
              <a:rPr sz="1400" b="0" i="0">
                <a:solidFill>
                  <a:srgbClr val="23262B"/>
                </a:solidFill>
                <a:latin typeface="Calibri"/>
              </a:rPr>
              <a:t>EDS subestima Mg (Fe:Mg ≈ 69:1 vs 4.6:1); el Mg está en la espinela minoritaria.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81328"/>
            <a:ext cx="5440680" cy="3986784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719072"/>
            <a:ext cx="493776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F6390"/>
                </a:solidFill>
                <a:latin typeface="Calibri"/>
              </a:rPr>
              <a:t>PRÓXIMOS PASOS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218688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 marL="201168" indent="-201168">
              <a:lnSpc>
                <a:spcPct val="126000"/>
              </a:lnSpc>
              <a:spcAft>
                <a:spcPts val="1200"/>
              </a:spcAft>
            </a:pPr>
            <a:r>
              <a:rPr sz="1400" b="1" i="0">
                <a:solidFill>
                  <a:srgbClr val="2F6390"/>
                </a:solidFill>
                <a:latin typeface="Calibri"/>
              </a:rPr>
              <a:t>• </a:t>
            </a:r>
            <a:r>
              <a:rPr sz="1400" b="0" i="0">
                <a:solidFill>
                  <a:srgbClr val="23262B"/>
                </a:solidFill>
                <a:latin typeface="Calibri"/>
              </a:rPr>
              <a:t>Repetir la síntesis ajustando pH y temperatura de calcinación para aumentar la espinela (meta: fase mayoritaria).</a:t>
            </a:r>
          </a:p>
          <a:p>
            <a:pPr algn="l" marL="201168" indent="-201168">
              <a:lnSpc>
                <a:spcPct val="126000"/>
              </a:lnSpc>
              <a:spcAft>
                <a:spcPts val="1200"/>
              </a:spcAft>
            </a:pPr>
            <a:r>
              <a:rPr sz="1400" b="1" i="0">
                <a:solidFill>
                  <a:srgbClr val="2F6390"/>
                </a:solidFill>
                <a:latin typeface="Calibri"/>
              </a:rPr>
              <a:t>• </a:t>
            </a:r>
            <a:r>
              <a:rPr sz="1400" b="0" i="0">
                <a:solidFill>
                  <a:srgbClr val="23262B"/>
                </a:solidFill>
                <a:latin typeface="Calibri"/>
              </a:rPr>
              <a:t>Cuantificar Mg por ICP para cerrar el balance másico.</a:t>
            </a:r>
          </a:p>
          <a:p>
            <a:pPr algn="l" marL="201168" indent="-201168">
              <a:lnSpc>
                <a:spcPct val="126000"/>
              </a:lnSpc>
              <a:spcAft>
                <a:spcPts val="1200"/>
              </a:spcAft>
            </a:pPr>
            <a:r>
              <a:rPr sz="1400" b="1" i="0">
                <a:solidFill>
                  <a:srgbClr val="2F6390"/>
                </a:solidFill>
                <a:latin typeface="Calibri"/>
              </a:rPr>
              <a:t>• </a:t>
            </a:r>
            <a:r>
              <a:rPr sz="1400" b="0" i="0">
                <a:solidFill>
                  <a:srgbClr val="23262B"/>
                </a:solidFill>
                <a:latin typeface="Calibri"/>
              </a:rPr>
              <a:t>Refinar en EasyDiffraction con March–Dollase y términos TCH de tamaño/deformación separados.</a:t>
            </a:r>
          </a:p>
          <a:p>
            <a:pPr algn="l" marL="201168" indent="-201168">
              <a:lnSpc>
                <a:spcPct val="126000"/>
              </a:lnSpc>
              <a:spcAft>
                <a:spcPts val="1200"/>
              </a:spcAft>
            </a:pPr>
            <a:r>
              <a:rPr sz="1400" b="1" i="0">
                <a:solidFill>
                  <a:srgbClr val="2F6390"/>
                </a:solidFill>
                <a:latin typeface="Calibri"/>
              </a:rPr>
              <a:t>• </a:t>
            </a:r>
            <a:r>
              <a:rPr sz="1400" b="0" i="0">
                <a:solidFill>
                  <a:srgbClr val="23262B"/>
                </a:solidFill>
                <a:latin typeface="Calibri"/>
              </a:rPr>
              <a:t>Completar marco teórico y montaje experimental en el artículo.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5A52"/>
                </a:solidFill>
                <a:latin typeface="Calibri"/>
              </a:rPr>
              <a:t>Avances 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 — UNAL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